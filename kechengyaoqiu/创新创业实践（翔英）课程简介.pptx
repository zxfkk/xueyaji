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60" r:id="rId3"/>
    <p:sldId id="257" r:id="rId4"/>
    <p:sldId id="258" r:id="rId5"/>
    <p:sldId id="263" r:id="rId6"/>
    <p:sldId id="297" r:id="rId7"/>
    <p:sldId id="294" r:id="rId8"/>
    <p:sldId id="266" r:id="rId9"/>
    <p:sldId id="295" r:id="rId10"/>
    <p:sldId id="296" r:id="rId11"/>
    <p:sldId id="267" r:id="rId12"/>
    <p:sldId id="268" r:id="rId13"/>
    <p:sldId id="277" r:id="rId14"/>
    <p:sldId id="27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56" userDrawn="1">
          <p15:clr>
            <a:srgbClr val="A4A3A4"/>
          </p15:clr>
        </p15:guide>
        <p15:guide id="2" pos="438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orient="horz" pos="1752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4D39"/>
    <a:srgbClr val="CB7D40"/>
    <a:srgbClr val="6F8683"/>
    <a:srgbClr val="7D755D"/>
    <a:srgbClr val="E6B875"/>
    <a:srgbClr val="A29266"/>
    <a:srgbClr val="A5A5A5"/>
    <a:srgbClr val="CABB8F"/>
    <a:srgbClr val="D7DBDC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768" y="200"/>
      </p:cViewPr>
      <p:guideLst>
        <p:guide orient="horz" pos="4156"/>
        <p:guide pos="438"/>
        <p:guide pos="3840"/>
        <p:guide pos="7242"/>
        <p:guide orient="horz" pos="1752"/>
        <p:guide orient="horz" pos="3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view3D>
      <c:rotX val="0"/>
      <c:rotY val="0"/>
      <c:depthPercent val="160"/>
      <c:rAngAx val="0"/>
      <c:perspective val="0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CB7D40"/>
            </a:solid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0_ 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F4-4990-A551-274E41BFA0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A29266"/>
            </a:solidFill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0_ </c:formatCode>
                <c:ptCount val="1"/>
                <c:pt idx="0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F4-4990-A551-274E41BFA05F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solidFill>
              <a:srgbClr val="6F4D39"/>
            </a:solidFill>
            <a:ln>
              <a:noFill/>
            </a:ln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Sheet1!$E$2</c:f>
              <c:numCache>
                <c:formatCode>0_ </c:formatCode>
                <c:ptCount val="1"/>
                <c:pt idx="0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F4-4990-A551-274E41BFA05F}"/>
            </c:ext>
          </c:extLst>
        </c:ser>
        <c:ser>
          <c:idx val="4"/>
          <c:order val="3"/>
          <c:tx>
            <c:strRef>
              <c:f>Sheet1!$F$1</c:f>
              <c:strCache>
                <c:ptCount val="1"/>
                <c:pt idx="0">
                  <c:v>系列 5</c:v>
                </c:pt>
              </c:strCache>
            </c:strRef>
          </c:tx>
          <c:spPr>
            <a:solidFill>
              <a:srgbClr val="CABB8F"/>
            </a:solidFill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Sheet1!$F$2</c:f>
              <c:numCache>
                <c:formatCode>0_ 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EF4-4990-A551-274E41BFA05F}"/>
            </c:ext>
          </c:extLst>
        </c:ser>
        <c:ser>
          <c:idx val="5"/>
          <c:order val="4"/>
          <c:tx>
            <c:strRef>
              <c:f>Sheet1!$G$1</c:f>
              <c:strCache>
                <c:ptCount val="1"/>
                <c:pt idx="0">
                  <c:v>系列 6</c:v>
                </c:pt>
              </c:strCache>
            </c:strRef>
          </c:tx>
          <c:spPr>
            <a:solidFill>
              <a:srgbClr val="CB7D40"/>
            </a:solidFill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Sheet1!$G$2</c:f>
              <c:numCache>
                <c:formatCode>0_ 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EF4-4990-A551-274E41BFA05F}"/>
            </c:ext>
          </c:extLst>
        </c:ser>
        <c:ser>
          <c:idx val="6"/>
          <c:order val="5"/>
          <c:tx>
            <c:strRef>
              <c:f>Sheet1!$H$1</c:f>
              <c:strCache>
                <c:ptCount val="1"/>
                <c:pt idx="0">
                  <c:v>系列 7</c:v>
                </c:pt>
              </c:strCache>
            </c:strRef>
          </c:tx>
          <c:spPr>
            <a:solidFill>
              <a:srgbClr val="7D755D"/>
            </a:solidFill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Sheet1!$H$2</c:f>
              <c:numCache>
                <c:formatCode>0_ 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EF4-4990-A551-274E41BFA0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gapDepth val="304"/>
        <c:shape val="box"/>
        <c:axId val="236821760"/>
        <c:axId val="236820128"/>
        <c:axId val="0"/>
      </c:bar3DChart>
      <c:catAx>
        <c:axId val="23682176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36820128"/>
        <c:crosses val="autoZero"/>
        <c:auto val="1"/>
        <c:lblAlgn val="ctr"/>
        <c:lblOffset val="100"/>
        <c:noMultiLvlLbl val="0"/>
      </c:catAx>
      <c:valAx>
        <c:axId val="236820128"/>
        <c:scaling>
          <c:orientation val="minMax"/>
        </c:scaling>
        <c:delete val="1"/>
        <c:axPos val="b"/>
        <c:numFmt formatCode="0_ " sourceLinked="1"/>
        <c:majorTickMark val="out"/>
        <c:minorTickMark val="none"/>
        <c:tickLblPos val="nextTo"/>
        <c:crossAx val="236821760"/>
        <c:crosses val="autoZero"/>
        <c:crossBetween val="between"/>
      </c:valAx>
      <c:spPr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D40C3-5343-42A2-B3A2-C1A719B72164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106F6-B681-49F5-9246-1FCF63B022C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33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16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83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4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46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92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8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10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21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740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22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DFDFD"/>
            </a:gs>
            <a:gs pos="100000">
              <a:schemeClr val="bg1">
                <a:lumMod val="95000"/>
              </a:schemeClr>
            </a:gs>
          </a:gsLst>
          <a:path path="circle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085FD-9353-4447-AAD8-430C140DCD65}" type="datetimeFigureOut">
              <a:rPr lang="zh-CN" altLang="en-US" smtClean="0"/>
              <a:pPr/>
              <a:t>2024/11/15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FC908-8B1D-4711-8EB1-141F4F0378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741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1579616" y="913758"/>
            <a:ext cx="3119085" cy="2006486"/>
            <a:chOff x="1968283" y="808132"/>
            <a:chExt cx="3119085" cy="2006486"/>
          </a:xfrm>
        </p:grpSpPr>
        <p:sp>
          <p:nvSpPr>
            <p:cNvPr id="44" name="矩形 43"/>
            <p:cNvSpPr/>
            <p:nvPr/>
          </p:nvSpPr>
          <p:spPr>
            <a:xfrm rot="2656728">
              <a:off x="2916744" y="1773523"/>
              <a:ext cx="2170624" cy="1041095"/>
            </a:xfrm>
            <a:prstGeom prst="rect">
              <a:avLst/>
            </a:prstGeom>
            <a:gradFill flip="none" rotWithShape="1">
              <a:gsLst>
                <a:gs pos="0">
                  <a:srgbClr val="FDFDFD">
                    <a:alpha val="6000"/>
                  </a:srgbClr>
                </a:gs>
                <a:gs pos="100000">
                  <a:srgbClr val="D7DBDC"/>
                </a:gs>
              </a:gsLst>
              <a:lin ang="81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968283" y="808132"/>
              <a:ext cx="1499223" cy="1348030"/>
              <a:chOff x="2525103" y="467671"/>
              <a:chExt cx="2203995" cy="1981727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2525103" y="467671"/>
                <a:ext cx="730654" cy="730654"/>
                <a:chOff x="2544981" y="467671"/>
                <a:chExt cx="730654" cy="730654"/>
              </a:xfrm>
            </p:grpSpPr>
            <p:sp>
              <p:nvSpPr>
                <p:cNvPr id="25" name="任意多边形 24"/>
                <p:cNvSpPr/>
                <p:nvPr/>
              </p:nvSpPr>
              <p:spPr>
                <a:xfrm flipH="1">
                  <a:off x="2910308" y="467671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任意多边形 25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18900000">
                <a:off x="2920247" y="618994"/>
                <a:ext cx="730654" cy="730654"/>
                <a:chOff x="2544981" y="467671"/>
                <a:chExt cx="730654" cy="730654"/>
              </a:xfrm>
            </p:grpSpPr>
            <p:sp>
              <p:nvSpPr>
                <p:cNvPr id="29" name="任意多边形 28"/>
                <p:cNvSpPr/>
                <p:nvPr/>
              </p:nvSpPr>
              <p:spPr>
                <a:xfrm flipH="1">
                  <a:off x="2910308" y="467671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任意多边形 29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 rot="13500000">
                <a:off x="3457473" y="1149242"/>
                <a:ext cx="730654" cy="730654"/>
                <a:chOff x="2544981" y="467671"/>
                <a:chExt cx="730654" cy="730654"/>
              </a:xfrm>
            </p:grpSpPr>
            <p:sp>
              <p:nvSpPr>
                <p:cNvPr id="32" name="任意多边形 31"/>
                <p:cNvSpPr/>
                <p:nvPr/>
              </p:nvSpPr>
              <p:spPr>
                <a:xfrm flipH="1">
                  <a:off x="2910308" y="467671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任意多边形 32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 rot="2700000">
                <a:off x="3458171" y="1172778"/>
                <a:ext cx="730654" cy="730654"/>
                <a:chOff x="2544981" y="467671"/>
                <a:chExt cx="730654" cy="730654"/>
              </a:xfrm>
            </p:grpSpPr>
            <p:sp>
              <p:nvSpPr>
                <p:cNvPr id="35" name="任意多边形 34"/>
                <p:cNvSpPr/>
                <p:nvPr/>
              </p:nvSpPr>
              <p:spPr>
                <a:xfrm flipH="1">
                  <a:off x="2910308" y="467671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任意多边形 35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 rot="2700000">
                <a:off x="3992510" y="624829"/>
                <a:ext cx="730654" cy="730654"/>
                <a:chOff x="2544981" y="467671"/>
                <a:chExt cx="730654" cy="730654"/>
              </a:xfrm>
            </p:grpSpPr>
            <p:sp>
              <p:nvSpPr>
                <p:cNvPr id="38" name="任意多边形 37"/>
                <p:cNvSpPr/>
                <p:nvPr/>
              </p:nvSpPr>
              <p:spPr>
                <a:xfrm flipH="1">
                  <a:off x="2910308" y="467671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任意多边形 38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 rot="8100000">
                <a:off x="3984389" y="1704690"/>
                <a:ext cx="744709" cy="744708"/>
                <a:chOff x="2544981" y="453616"/>
                <a:chExt cx="744709" cy="744708"/>
              </a:xfrm>
            </p:grpSpPr>
            <p:sp>
              <p:nvSpPr>
                <p:cNvPr id="41" name="任意多边形 40"/>
                <p:cNvSpPr/>
                <p:nvPr/>
              </p:nvSpPr>
              <p:spPr>
                <a:xfrm flipH="1">
                  <a:off x="2924363" y="453616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任意多边形 41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20" name="组合 19"/>
          <p:cNvGrpSpPr/>
          <p:nvPr/>
        </p:nvGrpSpPr>
        <p:grpSpPr>
          <a:xfrm>
            <a:off x="1244159" y="2701583"/>
            <a:ext cx="3327841" cy="3002757"/>
            <a:chOff x="896918" y="1509391"/>
            <a:chExt cx="4502551" cy="40627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矩形 3"/>
            <p:cNvSpPr/>
            <p:nvPr/>
          </p:nvSpPr>
          <p:spPr>
            <a:xfrm>
              <a:off x="896918" y="1509391"/>
              <a:ext cx="995422" cy="902826"/>
            </a:xfrm>
            <a:prstGeom prst="rect">
              <a:avLst/>
            </a:prstGeom>
            <a:solidFill>
              <a:srgbClr val="CB7D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65961" y="1509391"/>
              <a:ext cx="995422" cy="902826"/>
            </a:xfrm>
            <a:prstGeom prst="rect">
              <a:avLst/>
            </a:prstGeom>
            <a:solidFill>
              <a:srgbClr val="A29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235004" y="1509391"/>
              <a:ext cx="995422" cy="902826"/>
            </a:xfrm>
            <a:prstGeom prst="rect">
              <a:avLst/>
            </a:prstGeom>
            <a:solidFill>
              <a:srgbClr val="E6B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404047" y="1509391"/>
              <a:ext cx="995422" cy="902826"/>
            </a:xfrm>
            <a:prstGeom prst="rect">
              <a:avLst/>
            </a:prstGeom>
            <a:solidFill>
              <a:srgbClr val="6F4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96918" y="2562687"/>
              <a:ext cx="995422" cy="902826"/>
            </a:xfrm>
            <a:prstGeom prst="rect">
              <a:avLst/>
            </a:prstGeom>
            <a:solidFill>
              <a:srgbClr val="6F4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065961" y="2562687"/>
              <a:ext cx="995422" cy="902826"/>
            </a:xfrm>
            <a:prstGeom prst="rect">
              <a:avLst/>
            </a:prstGeom>
            <a:solidFill>
              <a:srgbClr val="CABB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235004" y="2562687"/>
              <a:ext cx="995422" cy="902826"/>
            </a:xfrm>
            <a:prstGeom prst="rect">
              <a:avLst/>
            </a:prstGeom>
            <a:solidFill>
              <a:srgbClr val="6F86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404047" y="2562687"/>
              <a:ext cx="995422" cy="902826"/>
            </a:xfrm>
            <a:prstGeom prst="rect">
              <a:avLst/>
            </a:prstGeom>
            <a:solidFill>
              <a:srgbClr val="CB7D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896918" y="3615983"/>
              <a:ext cx="995422" cy="902826"/>
            </a:xfrm>
            <a:prstGeom prst="rect">
              <a:avLst/>
            </a:prstGeom>
            <a:solidFill>
              <a:srgbClr val="E6B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065961" y="3615983"/>
              <a:ext cx="995422" cy="902826"/>
            </a:xfrm>
            <a:prstGeom prst="rect">
              <a:avLst/>
            </a:prstGeom>
            <a:solidFill>
              <a:srgbClr val="CB7D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3235004" y="3615983"/>
              <a:ext cx="995422" cy="902826"/>
            </a:xfrm>
            <a:prstGeom prst="rect">
              <a:avLst/>
            </a:prstGeom>
            <a:solidFill>
              <a:srgbClr val="7D75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4404047" y="3615983"/>
              <a:ext cx="995422" cy="902826"/>
            </a:xfrm>
            <a:prstGeom prst="rect">
              <a:avLst/>
            </a:prstGeom>
            <a:solidFill>
              <a:srgbClr val="CABB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896918" y="4669279"/>
              <a:ext cx="995422" cy="902826"/>
            </a:xfrm>
            <a:prstGeom prst="rect">
              <a:avLst/>
            </a:prstGeom>
            <a:solidFill>
              <a:srgbClr val="6F4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2065961" y="4669279"/>
              <a:ext cx="995422" cy="902826"/>
            </a:xfrm>
            <a:prstGeom prst="rect">
              <a:avLst/>
            </a:prstGeom>
            <a:solidFill>
              <a:srgbClr val="CABB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3235004" y="4669279"/>
              <a:ext cx="995422" cy="902826"/>
            </a:xfrm>
            <a:prstGeom prst="rect">
              <a:avLst/>
            </a:prstGeom>
            <a:solidFill>
              <a:srgbClr val="6F86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404047" y="4669279"/>
              <a:ext cx="995422" cy="902826"/>
            </a:xfrm>
            <a:prstGeom prst="rect">
              <a:avLst/>
            </a:prstGeom>
            <a:solidFill>
              <a:srgbClr val="CB7D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3968985" y="1249469"/>
            <a:ext cx="79111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/>
              <a:t>创新创业实践（翔英）</a:t>
            </a:r>
            <a:endParaRPr lang="zh-CN" altLang="en-US" sz="6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076406" y="3543054"/>
            <a:ext cx="3892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课程要求及课程须知</a:t>
            </a:r>
            <a:endParaRPr lang="zh-CN" altLang="en-US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5300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rgbClr val="FDFDFD"/>
            </a:gs>
            <a:gs pos="100000">
              <a:schemeClr val="bg1">
                <a:lumMod val="9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6763" y="1808278"/>
            <a:ext cx="5995750" cy="3857025"/>
            <a:chOff x="1968283" y="808132"/>
            <a:chExt cx="3119085" cy="2006486"/>
          </a:xfrm>
        </p:grpSpPr>
        <p:sp>
          <p:nvSpPr>
            <p:cNvPr id="5" name="矩形 4"/>
            <p:cNvSpPr/>
            <p:nvPr/>
          </p:nvSpPr>
          <p:spPr>
            <a:xfrm rot="2656728">
              <a:off x="2916744" y="1773523"/>
              <a:ext cx="2170624" cy="1041095"/>
            </a:xfrm>
            <a:prstGeom prst="rect">
              <a:avLst/>
            </a:prstGeom>
            <a:gradFill flip="none" rotWithShape="1">
              <a:gsLst>
                <a:gs pos="0">
                  <a:srgbClr val="FDFDFD">
                    <a:alpha val="6000"/>
                  </a:srgbClr>
                </a:gs>
                <a:gs pos="100000">
                  <a:srgbClr val="D7DBDC"/>
                </a:gs>
              </a:gsLst>
              <a:lin ang="81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968283" y="808132"/>
              <a:ext cx="1499223" cy="1348030"/>
              <a:chOff x="2525103" y="467671"/>
              <a:chExt cx="2203995" cy="1981727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2525103" y="467671"/>
                <a:ext cx="730654" cy="730654"/>
                <a:chOff x="2544981" y="467671"/>
                <a:chExt cx="730654" cy="730654"/>
              </a:xfrm>
            </p:grpSpPr>
            <p:sp>
              <p:nvSpPr>
                <p:cNvPr id="23" name="任意多边形 22"/>
                <p:cNvSpPr/>
                <p:nvPr/>
              </p:nvSpPr>
              <p:spPr>
                <a:xfrm flipH="1">
                  <a:off x="2910308" y="467671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任意多边形 23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 rot="18900000">
                <a:off x="2920247" y="618994"/>
                <a:ext cx="730654" cy="730654"/>
                <a:chOff x="2544981" y="467671"/>
                <a:chExt cx="730654" cy="730654"/>
              </a:xfrm>
            </p:grpSpPr>
            <p:sp>
              <p:nvSpPr>
                <p:cNvPr id="21" name="任意多边形 20"/>
                <p:cNvSpPr/>
                <p:nvPr/>
              </p:nvSpPr>
              <p:spPr>
                <a:xfrm flipH="1">
                  <a:off x="2910308" y="467671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任意多边形 21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 rot="13500000">
                <a:off x="3457473" y="1149242"/>
                <a:ext cx="730654" cy="730654"/>
                <a:chOff x="2544981" y="467671"/>
                <a:chExt cx="730654" cy="730654"/>
              </a:xfrm>
            </p:grpSpPr>
            <p:sp>
              <p:nvSpPr>
                <p:cNvPr id="19" name="任意多边形 18"/>
                <p:cNvSpPr/>
                <p:nvPr/>
              </p:nvSpPr>
              <p:spPr>
                <a:xfrm flipH="1">
                  <a:off x="2910308" y="467671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任意多边形 19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 rot="2700000">
                <a:off x="3458171" y="1172778"/>
                <a:ext cx="730654" cy="730654"/>
                <a:chOff x="2544981" y="467671"/>
                <a:chExt cx="730654" cy="730654"/>
              </a:xfrm>
            </p:grpSpPr>
            <p:sp>
              <p:nvSpPr>
                <p:cNvPr id="17" name="任意多边形 16"/>
                <p:cNvSpPr/>
                <p:nvPr/>
              </p:nvSpPr>
              <p:spPr>
                <a:xfrm flipH="1">
                  <a:off x="2910308" y="467671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任意多边形 17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 rot="2700000">
                <a:off x="3992510" y="624829"/>
                <a:ext cx="730654" cy="730654"/>
                <a:chOff x="2544981" y="467671"/>
                <a:chExt cx="730654" cy="730654"/>
              </a:xfrm>
            </p:grpSpPr>
            <p:sp>
              <p:nvSpPr>
                <p:cNvPr id="15" name="任意多边形 14"/>
                <p:cNvSpPr/>
                <p:nvPr/>
              </p:nvSpPr>
              <p:spPr>
                <a:xfrm flipH="1">
                  <a:off x="2910308" y="467671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任意多边形 15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 rot="8100000">
                <a:off x="3984389" y="1704690"/>
                <a:ext cx="744709" cy="744708"/>
                <a:chOff x="2544981" y="453616"/>
                <a:chExt cx="744709" cy="744708"/>
              </a:xfrm>
            </p:grpSpPr>
            <p:sp>
              <p:nvSpPr>
                <p:cNvPr id="13" name="任意多边形 12"/>
                <p:cNvSpPr/>
                <p:nvPr/>
              </p:nvSpPr>
              <p:spPr>
                <a:xfrm flipH="1">
                  <a:off x="2924363" y="453616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CABB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任意多边形 13"/>
                <p:cNvSpPr/>
                <p:nvPr/>
              </p:nvSpPr>
              <p:spPr>
                <a:xfrm rot="5400000" flipH="1">
                  <a:off x="2727644" y="650334"/>
                  <a:ext cx="365327" cy="730654"/>
                </a:xfrm>
                <a:custGeom>
                  <a:avLst/>
                  <a:gdLst>
                    <a:gd name="connsiteX0" fmla="*/ 0 w 925974"/>
                    <a:gd name="connsiteY0" fmla="*/ 0 h 1851948"/>
                    <a:gd name="connsiteX1" fmla="*/ 925974 w 925974"/>
                    <a:gd name="connsiteY1" fmla="*/ 925974 h 1851948"/>
                    <a:gd name="connsiteX2" fmla="*/ 0 w 925974"/>
                    <a:gd name="connsiteY2" fmla="*/ 1851948 h 1851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5974" h="1851948">
                      <a:moveTo>
                        <a:pt x="0" y="0"/>
                      </a:moveTo>
                      <a:lnTo>
                        <a:pt x="925974" y="925974"/>
                      </a:lnTo>
                      <a:lnTo>
                        <a:pt x="0" y="1851948"/>
                      </a:lnTo>
                      <a:close/>
                    </a:path>
                  </a:pathLst>
                </a:custGeom>
                <a:solidFill>
                  <a:srgbClr val="E6B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43" name="组合 42"/>
          <p:cNvGrpSpPr/>
          <p:nvPr/>
        </p:nvGrpSpPr>
        <p:grpSpPr>
          <a:xfrm>
            <a:off x="5480430" y="1562107"/>
            <a:ext cx="1037979" cy="3739597"/>
            <a:chOff x="5480430" y="1562107"/>
            <a:chExt cx="1037979" cy="3739597"/>
          </a:xfrm>
        </p:grpSpPr>
        <p:sp>
          <p:nvSpPr>
            <p:cNvPr id="25" name="菱形 24"/>
            <p:cNvSpPr/>
            <p:nvPr/>
          </p:nvSpPr>
          <p:spPr>
            <a:xfrm>
              <a:off x="5480430" y="1562107"/>
              <a:ext cx="1037979" cy="1037979"/>
            </a:xfrm>
            <a:prstGeom prst="diamond">
              <a:avLst/>
            </a:prstGeom>
            <a:solidFill>
              <a:srgbClr val="7D755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菱形 25"/>
            <p:cNvSpPr/>
            <p:nvPr/>
          </p:nvSpPr>
          <p:spPr>
            <a:xfrm>
              <a:off x="5480430" y="2912916"/>
              <a:ext cx="1037979" cy="1037979"/>
            </a:xfrm>
            <a:prstGeom prst="diamond">
              <a:avLst/>
            </a:prstGeom>
            <a:solidFill>
              <a:srgbClr val="CB7D4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菱形 26"/>
            <p:cNvSpPr/>
            <p:nvPr/>
          </p:nvSpPr>
          <p:spPr>
            <a:xfrm>
              <a:off x="5480430" y="4263725"/>
              <a:ext cx="1037979" cy="1037979"/>
            </a:xfrm>
            <a:prstGeom prst="diamond">
              <a:avLst/>
            </a:prstGeom>
            <a:solidFill>
              <a:srgbClr val="6F868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708313" y="1606137"/>
              <a:ext cx="58221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solidFill>
                    <a:schemeClr val="bg1"/>
                  </a:solidFill>
                  <a:latin typeface="Broadway" panose="04040905080B02020502" pitchFamily="82" charset="0"/>
                </a:rPr>
                <a:t>1</a:t>
              </a:r>
              <a:endParaRPr lang="zh-CN" altLang="en-US" sz="48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708313" y="2987598"/>
              <a:ext cx="58221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solidFill>
                    <a:schemeClr val="bg1"/>
                  </a:solidFill>
                  <a:latin typeface="Broadway" panose="04040905080B02020502" pitchFamily="82" charset="0"/>
                </a:rPr>
                <a:t>2</a:t>
              </a:r>
              <a:endParaRPr lang="zh-CN" altLang="en-US" sz="48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708313" y="4295140"/>
              <a:ext cx="58221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solidFill>
                    <a:schemeClr val="bg1"/>
                  </a:solidFill>
                  <a:latin typeface="Broadway" panose="04040905080B02020502" pitchFamily="82" charset="0"/>
                </a:rPr>
                <a:t>3</a:t>
              </a:r>
              <a:endParaRPr lang="zh-CN" altLang="en-US" sz="48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738730" y="1729409"/>
            <a:ext cx="3935896" cy="795416"/>
            <a:chOff x="6738730" y="1729409"/>
            <a:chExt cx="3935896" cy="795416"/>
          </a:xfrm>
        </p:grpSpPr>
        <p:sp>
          <p:nvSpPr>
            <p:cNvPr id="29" name="矩形 28"/>
            <p:cNvSpPr/>
            <p:nvPr/>
          </p:nvSpPr>
          <p:spPr>
            <a:xfrm>
              <a:off x="6738730" y="1729409"/>
              <a:ext cx="3935896" cy="795416"/>
            </a:xfrm>
            <a:prstGeom prst="rect">
              <a:avLst/>
            </a:prstGeom>
            <a:solidFill>
              <a:srgbClr val="7D755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6971048" y="188793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课程目标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738730" y="3088120"/>
            <a:ext cx="3935896" cy="795416"/>
            <a:chOff x="6738730" y="1729409"/>
            <a:chExt cx="3935896" cy="795416"/>
          </a:xfrm>
          <a:solidFill>
            <a:srgbClr val="CB7D40"/>
          </a:solidFill>
        </p:grpSpPr>
        <p:sp>
          <p:nvSpPr>
            <p:cNvPr id="38" name="矩形 37"/>
            <p:cNvSpPr/>
            <p:nvPr/>
          </p:nvSpPr>
          <p:spPr>
            <a:xfrm>
              <a:off x="6738730" y="1729409"/>
              <a:ext cx="3935896" cy="795416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971048" y="1887937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</a:lstStyle>
            <a:p>
              <a:r>
                <a:rPr lang="zh-CN" altLang="en-US" dirty="0"/>
                <a:t>元器件采购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738730" y="4385006"/>
            <a:ext cx="3935896" cy="795416"/>
            <a:chOff x="6738730" y="1729409"/>
            <a:chExt cx="3935896" cy="795416"/>
          </a:xfrm>
          <a:solidFill>
            <a:srgbClr val="6F8683"/>
          </a:solidFill>
        </p:grpSpPr>
        <p:sp>
          <p:nvSpPr>
            <p:cNvPr id="41" name="矩形 40"/>
            <p:cNvSpPr/>
            <p:nvPr/>
          </p:nvSpPr>
          <p:spPr>
            <a:xfrm>
              <a:off x="6738730" y="1729409"/>
              <a:ext cx="3935896" cy="795416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971048" y="188793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</a:lstStyle>
            <a:p>
              <a:r>
                <a:rPr lang="zh-CN" altLang="en-US" dirty="0"/>
                <a:t>成绩评定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592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菱形 12"/>
          <p:cNvSpPr/>
          <p:nvPr/>
        </p:nvSpPr>
        <p:spPr>
          <a:xfrm>
            <a:off x="4658204" y="1999887"/>
            <a:ext cx="2945154" cy="2945154"/>
          </a:xfrm>
          <a:prstGeom prst="diamond">
            <a:avLst/>
          </a:prstGeom>
          <a:solidFill>
            <a:srgbClr val="CB7D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任意多边形 6"/>
          <p:cNvSpPr/>
          <p:nvPr/>
        </p:nvSpPr>
        <p:spPr>
          <a:xfrm rot="10800000">
            <a:off x="11266026" y="2539539"/>
            <a:ext cx="925974" cy="1851948"/>
          </a:xfrm>
          <a:custGeom>
            <a:avLst/>
            <a:gdLst>
              <a:gd name="connsiteX0" fmla="*/ 0 w 925974"/>
              <a:gd name="connsiteY0" fmla="*/ 0 h 1851948"/>
              <a:gd name="connsiteX1" fmla="*/ 925974 w 925974"/>
              <a:gd name="connsiteY1" fmla="*/ 925974 h 1851948"/>
              <a:gd name="connsiteX2" fmla="*/ 0 w 925974"/>
              <a:gd name="connsiteY2" fmla="*/ 1851948 h 185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5974" h="1851948">
                <a:moveTo>
                  <a:pt x="0" y="0"/>
                </a:moveTo>
                <a:lnTo>
                  <a:pt x="925974" y="925974"/>
                </a:lnTo>
                <a:lnTo>
                  <a:pt x="0" y="1851948"/>
                </a:lnTo>
                <a:close/>
              </a:path>
            </a:pathLst>
          </a:custGeom>
          <a:solidFill>
            <a:srgbClr val="6F86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753071" y="2438795"/>
            <a:ext cx="7312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  <a:latin typeface="Broadway" panose="04040905080B02020502" pitchFamily="82" charset="0"/>
              </a:rPr>
              <a:t>1</a:t>
            </a:r>
            <a:endParaRPr lang="zh-CN" altLang="en-US" sz="6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211667" y="3472464"/>
            <a:ext cx="183822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345950" y="365475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课程目标</a:t>
            </a:r>
          </a:p>
        </p:txBody>
      </p:sp>
      <p:sp>
        <p:nvSpPr>
          <p:cNvPr id="9" name="任意多边形 8"/>
          <p:cNvSpPr/>
          <p:nvPr/>
        </p:nvSpPr>
        <p:spPr>
          <a:xfrm>
            <a:off x="0" y="2539539"/>
            <a:ext cx="925974" cy="1851948"/>
          </a:xfrm>
          <a:custGeom>
            <a:avLst/>
            <a:gdLst>
              <a:gd name="connsiteX0" fmla="*/ 0 w 925974"/>
              <a:gd name="connsiteY0" fmla="*/ 0 h 1851948"/>
              <a:gd name="connsiteX1" fmla="*/ 925974 w 925974"/>
              <a:gd name="connsiteY1" fmla="*/ 925974 h 1851948"/>
              <a:gd name="connsiteX2" fmla="*/ 0 w 925974"/>
              <a:gd name="connsiteY2" fmla="*/ 1851948 h 185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5974" h="1851948">
                <a:moveTo>
                  <a:pt x="0" y="0"/>
                </a:moveTo>
                <a:lnTo>
                  <a:pt x="925974" y="925974"/>
                </a:lnTo>
                <a:lnTo>
                  <a:pt x="0" y="1851948"/>
                </a:lnTo>
                <a:close/>
              </a:path>
            </a:pathLst>
          </a:custGeom>
          <a:solidFill>
            <a:srgbClr val="6F86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141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84729" y="985743"/>
            <a:ext cx="3577234" cy="281324"/>
            <a:chOff x="8243978" y="3111823"/>
            <a:chExt cx="3577234" cy="281324"/>
          </a:xfrm>
        </p:grpSpPr>
        <p:grpSp>
          <p:nvGrpSpPr>
            <p:cNvPr id="2" name="组合 1"/>
            <p:cNvGrpSpPr/>
            <p:nvPr/>
          </p:nvGrpSpPr>
          <p:grpSpPr>
            <a:xfrm>
              <a:off x="10053924" y="3111823"/>
              <a:ext cx="1767288" cy="281324"/>
              <a:chOff x="306609" y="643766"/>
              <a:chExt cx="5671594" cy="902826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306609" y="643766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475652" y="643766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2644695" y="643766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3813738" y="643766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4982781" y="643766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8243978" y="3111823"/>
              <a:ext cx="1767288" cy="281324"/>
              <a:chOff x="306609" y="643766"/>
              <a:chExt cx="5671594" cy="902826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306609" y="643766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1475652" y="643766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2644695" y="643766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3813738" y="643766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4982781" y="643766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7221940" y="35770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课程目标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001660" y="1373927"/>
            <a:ext cx="8041183" cy="532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1938" indent="-174625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+mn-ea"/>
              </a:rPr>
              <a:t>模拟企业研发团队的运营模式，在工程规范约束下经历一个实际产品较完整的研发过程。</a:t>
            </a:r>
            <a:r>
              <a:rPr lang="zh-CN" altLang="zh-CN" sz="2400" dirty="0">
                <a:latin typeface="+mn-ea"/>
              </a:rPr>
              <a:t>包括：市场调研、文献检索，相似产品比较分析、技术方案的论证、产品的市场定位、制定研发计划进度安排。</a:t>
            </a:r>
            <a:endParaRPr lang="en-US" altLang="zh-CN" sz="2400" dirty="0">
              <a:latin typeface="+mn-ea"/>
            </a:endParaRPr>
          </a:p>
          <a:p>
            <a:pPr marL="261938" indent="-174625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+mn-ea"/>
              </a:rPr>
              <a:t>制定出有特色</a:t>
            </a:r>
            <a:r>
              <a:rPr lang="zh-CN" altLang="en-US" sz="2400" dirty="0">
                <a:latin typeface="+mn-ea"/>
              </a:rPr>
              <a:t>、</a:t>
            </a:r>
            <a:r>
              <a:rPr lang="zh-CN" altLang="zh-CN" sz="2400" dirty="0">
                <a:latin typeface="+mn-ea"/>
              </a:rPr>
              <a:t>新颖、独创、实用、低成本产品实现方案。进行系统软硬件及架构总体设计和各单元设计，能</a:t>
            </a:r>
            <a:r>
              <a:rPr lang="zh-CN" altLang="en-US" sz="2400" dirty="0">
                <a:latin typeface="+mn-ea"/>
              </a:rPr>
              <a:t>实现</a:t>
            </a:r>
            <a:r>
              <a:rPr lang="zh-CN" altLang="zh-CN" sz="2400" dirty="0">
                <a:latin typeface="+mn-ea"/>
              </a:rPr>
              <a:t>一个相对能实际使用的产品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 marL="261938" indent="-174625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+mn-ea"/>
              </a:rPr>
              <a:t>在产品设计和具体实施中能以体现合理的项目管理、成本控制方法，项目组能按照进度安排、任务分配、定期研讨，遇到问题后及时方案调整等开展项目实施，并保障项目顺利向前推进。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 rot="2700000">
            <a:off x="2488646" y="3114077"/>
            <a:ext cx="854549" cy="851720"/>
            <a:chOff x="683066" y="4363269"/>
            <a:chExt cx="1533749" cy="1528671"/>
          </a:xfrm>
        </p:grpSpPr>
        <p:sp>
          <p:nvSpPr>
            <p:cNvPr id="92" name="矩形 91"/>
            <p:cNvSpPr/>
            <p:nvPr/>
          </p:nvSpPr>
          <p:spPr>
            <a:xfrm>
              <a:off x="683066" y="4363269"/>
              <a:ext cx="720000" cy="720000"/>
            </a:xfrm>
            <a:prstGeom prst="rect">
              <a:avLst/>
            </a:prstGeom>
            <a:solidFill>
              <a:srgbClr val="CB7D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1496815" y="4363269"/>
              <a:ext cx="720000" cy="720000"/>
            </a:xfrm>
            <a:prstGeom prst="rect">
              <a:avLst/>
            </a:prstGeom>
            <a:solidFill>
              <a:srgbClr val="A29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683066" y="5171940"/>
              <a:ext cx="720000" cy="720000"/>
            </a:xfrm>
            <a:prstGeom prst="rect">
              <a:avLst/>
            </a:prstGeom>
            <a:solidFill>
              <a:srgbClr val="6F4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1496815" y="5171940"/>
              <a:ext cx="720000" cy="720000"/>
            </a:xfrm>
            <a:prstGeom prst="rect">
              <a:avLst/>
            </a:prstGeom>
            <a:solidFill>
              <a:srgbClr val="CABB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Picture 4" descr="IMG2014030613182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99" y="2225354"/>
            <a:ext cx="2977566" cy="270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427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/>
          <p:nvPr>
            <p:extLst>
              <p:ext uri="{D42A27DB-BD31-4B8C-83A1-F6EECF244321}">
                <p14:modId xmlns:p14="http://schemas.microsoft.com/office/powerpoint/2010/main" val="1900423178"/>
              </p:ext>
            </p:extLst>
          </p:nvPr>
        </p:nvGraphicFramePr>
        <p:xfrm>
          <a:off x="1591511" y="1729636"/>
          <a:ext cx="9144000" cy="1584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73" name="组合 72"/>
          <p:cNvGrpSpPr/>
          <p:nvPr/>
        </p:nvGrpSpPr>
        <p:grpSpPr>
          <a:xfrm>
            <a:off x="3084876" y="1309304"/>
            <a:ext cx="763351" cy="975690"/>
            <a:chOff x="2093167" y="501400"/>
            <a:chExt cx="763351" cy="9756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1" name="等腰三角形 70"/>
            <p:cNvSpPr/>
            <p:nvPr/>
          </p:nvSpPr>
          <p:spPr>
            <a:xfrm rot="10800000">
              <a:off x="2375452" y="884684"/>
              <a:ext cx="198783" cy="592406"/>
            </a:xfrm>
            <a:prstGeom prst="triangle">
              <a:avLst/>
            </a:prstGeom>
            <a:solidFill>
              <a:srgbClr val="CB7D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093167" y="501400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阶段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5571531" y="1281300"/>
            <a:ext cx="763351" cy="973352"/>
            <a:chOff x="2092215" y="484679"/>
            <a:chExt cx="763351" cy="9733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1" name="等腰三角形 80"/>
            <p:cNvSpPr/>
            <p:nvPr/>
          </p:nvSpPr>
          <p:spPr>
            <a:xfrm rot="10800000">
              <a:off x="2363076" y="865625"/>
              <a:ext cx="198783" cy="592406"/>
            </a:xfrm>
            <a:prstGeom prst="triangle">
              <a:avLst/>
            </a:prstGeom>
            <a:solidFill>
              <a:srgbClr val="6F4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2092215" y="484679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阶段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7027424" y="1250062"/>
            <a:ext cx="763351" cy="978920"/>
            <a:chOff x="2108549" y="498170"/>
            <a:chExt cx="763351" cy="9789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4" name="等腰三角形 83"/>
            <p:cNvSpPr/>
            <p:nvPr/>
          </p:nvSpPr>
          <p:spPr>
            <a:xfrm rot="10800000">
              <a:off x="2375452" y="884684"/>
              <a:ext cx="198783" cy="592406"/>
            </a:xfrm>
            <a:prstGeom prst="triangle">
              <a:avLst/>
            </a:prstGeom>
            <a:solidFill>
              <a:srgbClr val="CABB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2108549" y="498170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阶段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3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7744745" y="1254525"/>
            <a:ext cx="763351" cy="977809"/>
            <a:chOff x="2109500" y="499281"/>
            <a:chExt cx="763351" cy="977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7" name="等腰三角形 86"/>
            <p:cNvSpPr/>
            <p:nvPr/>
          </p:nvSpPr>
          <p:spPr>
            <a:xfrm rot="10800000">
              <a:off x="2375452" y="884684"/>
              <a:ext cx="198783" cy="592406"/>
            </a:xfrm>
            <a:prstGeom prst="triangle">
              <a:avLst/>
            </a:prstGeom>
            <a:solidFill>
              <a:srgbClr val="CB7D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2109500" y="499281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阶段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4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8657512" y="1250062"/>
            <a:ext cx="763351" cy="978920"/>
            <a:chOff x="2116290" y="498170"/>
            <a:chExt cx="763351" cy="9789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0" name="等腰三角形 89"/>
            <p:cNvSpPr/>
            <p:nvPr/>
          </p:nvSpPr>
          <p:spPr>
            <a:xfrm rot="10800000">
              <a:off x="2375452" y="884684"/>
              <a:ext cx="198783" cy="592406"/>
            </a:xfrm>
            <a:prstGeom prst="triangle">
              <a:avLst/>
            </a:prstGeom>
            <a:solidFill>
              <a:srgbClr val="7D75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2116290" y="498170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阶段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5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766763" y="857986"/>
            <a:ext cx="2117035" cy="165373"/>
            <a:chOff x="2218037" y="6272597"/>
            <a:chExt cx="2734179" cy="2135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92" name="组合 91"/>
            <p:cNvGrpSpPr/>
            <p:nvPr/>
          </p:nvGrpSpPr>
          <p:grpSpPr>
            <a:xfrm flipV="1">
              <a:off x="2218037" y="6272597"/>
              <a:ext cx="1341734" cy="213582"/>
              <a:chOff x="2218037" y="5369771"/>
              <a:chExt cx="5671594" cy="902826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矩形 68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 flipV="1">
              <a:off x="3610482" y="6272597"/>
              <a:ext cx="1341734" cy="213582"/>
              <a:chOff x="2218037" y="5369771"/>
              <a:chExt cx="5671594" cy="902826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矩形 96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矩形 97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23" name="组合 122"/>
          <p:cNvGrpSpPr/>
          <p:nvPr/>
        </p:nvGrpSpPr>
        <p:grpSpPr>
          <a:xfrm>
            <a:off x="1956778" y="2693505"/>
            <a:ext cx="9181792" cy="2077277"/>
            <a:chOff x="1976656" y="3051313"/>
            <a:chExt cx="9181792" cy="2077277"/>
          </a:xfrm>
        </p:grpSpPr>
        <p:sp>
          <p:nvSpPr>
            <p:cNvPr id="119" name="平行四边形 118"/>
            <p:cNvSpPr/>
            <p:nvPr/>
          </p:nvSpPr>
          <p:spPr>
            <a:xfrm>
              <a:off x="1976656" y="3558208"/>
              <a:ext cx="9181792" cy="1570382"/>
            </a:xfrm>
            <a:custGeom>
              <a:avLst/>
              <a:gdLst>
                <a:gd name="connsiteX0" fmla="*/ 0 w 7949339"/>
                <a:gd name="connsiteY0" fmla="*/ 1590261 h 1590261"/>
                <a:gd name="connsiteX1" fmla="*/ 397565 w 7949339"/>
                <a:gd name="connsiteY1" fmla="*/ 0 h 1590261"/>
                <a:gd name="connsiteX2" fmla="*/ 7949339 w 7949339"/>
                <a:gd name="connsiteY2" fmla="*/ 0 h 1590261"/>
                <a:gd name="connsiteX3" fmla="*/ 7551774 w 7949339"/>
                <a:gd name="connsiteY3" fmla="*/ 1590261 h 1590261"/>
                <a:gd name="connsiteX4" fmla="*/ 0 w 7949339"/>
                <a:gd name="connsiteY4" fmla="*/ 1590261 h 1590261"/>
                <a:gd name="connsiteX0" fmla="*/ 1162879 w 7551774"/>
                <a:gd name="connsiteY0" fmla="*/ 1550505 h 1590261"/>
                <a:gd name="connsiteX1" fmla="*/ 0 w 7551774"/>
                <a:gd name="connsiteY1" fmla="*/ 0 h 1590261"/>
                <a:gd name="connsiteX2" fmla="*/ 7551774 w 7551774"/>
                <a:gd name="connsiteY2" fmla="*/ 0 h 1590261"/>
                <a:gd name="connsiteX3" fmla="*/ 7154209 w 7551774"/>
                <a:gd name="connsiteY3" fmla="*/ 1590261 h 1590261"/>
                <a:gd name="connsiteX4" fmla="*/ 1162879 w 7551774"/>
                <a:gd name="connsiteY4" fmla="*/ 1550505 h 1590261"/>
                <a:gd name="connsiteX0" fmla="*/ 1162879 w 9181792"/>
                <a:gd name="connsiteY0" fmla="*/ 1550505 h 1570382"/>
                <a:gd name="connsiteX1" fmla="*/ 0 w 9181792"/>
                <a:gd name="connsiteY1" fmla="*/ 0 h 1570382"/>
                <a:gd name="connsiteX2" fmla="*/ 7551774 w 9181792"/>
                <a:gd name="connsiteY2" fmla="*/ 0 h 1570382"/>
                <a:gd name="connsiteX3" fmla="*/ 9181792 w 9181792"/>
                <a:gd name="connsiteY3" fmla="*/ 1570382 h 1570382"/>
                <a:gd name="connsiteX4" fmla="*/ 1162879 w 9181792"/>
                <a:gd name="connsiteY4" fmla="*/ 1550505 h 157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1792" h="1570382">
                  <a:moveTo>
                    <a:pt x="1162879" y="1550505"/>
                  </a:moveTo>
                  <a:lnTo>
                    <a:pt x="0" y="0"/>
                  </a:lnTo>
                  <a:lnTo>
                    <a:pt x="7551774" y="0"/>
                  </a:lnTo>
                  <a:lnTo>
                    <a:pt x="9181792" y="1570382"/>
                  </a:lnTo>
                  <a:lnTo>
                    <a:pt x="1162879" y="1550505"/>
                  </a:lnTo>
                  <a:close/>
                </a:path>
              </a:pathLst>
            </a:custGeom>
            <a:gradFill flip="none" rotWithShape="1">
              <a:gsLst>
                <a:gs pos="57000">
                  <a:schemeClr val="bg1">
                    <a:lumMod val="95000"/>
                    <a:alpha val="40000"/>
                  </a:schemeClr>
                </a:gs>
                <a:gs pos="0">
                  <a:srgbClr val="FDFDFD">
                    <a:alpha val="0"/>
                  </a:srgbClr>
                </a:gs>
                <a:gs pos="100000">
                  <a:schemeClr val="bg1">
                    <a:lumMod val="50000"/>
                    <a:alpha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9526164" y="3051313"/>
              <a:ext cx="1078890" cy="1570382"/>
            </a:xfrm>
            <a:custGeom>
              <a:avLst/>
              <a:gdLst>
                <a:gd name="connsiteX0" fmla="*/ 0 w 1068951"/>
                <a:gd name="connsiteY0" fmla="*/ 0 h 1570382"/>
                <a:gd name="connsiteX1" fmla="*/ 1068951 w 1068951"/>
                <a:gd name="connsiteY1" fmla="*/ 0 h 1570382"/>
                <a:gd name="connsiteX2" fmla="*/ 1068951 w 1068951"/>
                <a:gd name="connsiteY2" fmla="*/ 1570382 h 1570382"/>
                <a:gd name="connsiteX3" fmla="*/ 0 w 1068951"/>
                <a:gd name="connsiteY3" fmla="*/ 1570382 h 1570382"/>
                <a:gd name="connsiteX4" fmla="*/ 0 w 1068951"/>
                <a:gd name="connsiteY4" fmla="*/ 0 h 1570382"/>
                <a:gd name="connsiteX0" fmla="*/ 0 w 1068951"/>
                <a:gd name="connsiteY0" fmla="*/ 0 h 1570382"/>
                <a:gd name="connsiteX1" fmla="*/ 1068951 w 1068951"/>
                <a:gd name="connsiteY1" fmla="*/ 0 h 1570382"/>
                <a:gd name="connsiteX2" fmla="*/ 1068951 w 1068951"/>
                <a:gd name="connsiteY2" fmla="*/ 1570382 h 1570382"/>
                <a:gd name="connsiteX3" fmla="*/ 9939 w 1068951"/>
                <a:gd name="connsiteY3" fmla="*/ 496956 h 1570382"/>
                <a:gd name="connsiteX4" fmla="*/ 0 w 1068951"/>
                <a:gd name="connsiteY4" fmla="*/ 0 h 1570382"/>
                <a:gd name="connsiteX0" fmla="*/ 0 w 1078890"/>
                <a:gd name="connsiteY0" fmla="*/ 0 h 1570382"/>
                <a:gd name="connsiteX1" fmla="*/ 1078890 w 1078890"/>
                <a:gd name="connsiteY1" fmla="*/ 1043609 h 1570382"/>
                <a:gd name="connsiteX2" fmla="*/ 1068951 w 1078890"/>
                <a:gd name="connsiteY2" fmla="*/ 1570382 h 1570382"/>
                <a:gd name="connsiteX3" fmla="*/ 9939 w 1078890"/>
                <a:gd name="connsiteY3" fmla="*/ 496956 h 1570382"/>
                <a:gd name="connsiteX4" fmla="*/ 0 w 1078890"/>
                <a:gd name="connsiteY4" fmla="*/ 0 h 1570382"/>
                <a:gd name="connsiteX0" fmla="*/ 0 w 1078890"/>
                <a:gd name="connsiteY0" fmla="*/ 0 h 1570382"/>
                <a:gd name="connsiteX1" fmla="*/ 1078890 w 1078890"/>
                <a:gd name="connsiteY1" fmla="*/ 1043609 h 1570382"/>
                <a:gd name="connsiteX2" fmla="*/ 1068951 w 1078890"/>
                <a:gd name="connsiteY2" fmla="*/ 1570382 h 1570382"/>
                <a:gd name="connsiteX3" fmla="*/ 9939 w 1078890"/>
                <a:gd name="connsiteY3" fmla="*/ 526453 h 1570382"/>
                <a:gd name="connsiteX4" fmla="*/ 0 w 1078890"/>
                <a:gd name="connsiteY4" fmla="*/ 0 h 157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8890" h="1570382">
                  <a:moveTo>
                    <a:pt x="0" y="0"/>
                  </a:moveTo>
                  <a:lnTo>
                    <a:pt x="1078890" y="1043609"/>
                  </a:lnTo>
                  <a:lnTo>
                    <a:pt x="1068951" y="1570382"/>
                  </a:lnTo>
                  <a:lnTo>
                    <a:pt x="9939" y="52645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29000">
                  <a:schemeClr val="bg1">
                    <a:lumMod val="95000"/>
                    <a:alpha val="40000"/>
                  </a:schemeClr>
                </a:gs>
                <a:gs pos="0">
                  <a:srgbClr val="FDFDFD">
                    <a:alpha val="0"/>
                  </a:srgbClr>
                </a:gs>
                <a:gs pos="100000">
                  <a:schemeClr val="bg1">
                    <a:lumMod val="50000"/>
                    <a:alpha val="4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4" name="文本框 123"/>
          <p:cNvSpPr txBox="1"/>
          <p:nvPr/>
        </p:nvSpPr>
        <p:spPr>
          <a:xfrm>
            <a:off x="670138" y="37513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课程流程</a:t>
            </a:r>
          </a:p>
        </p:txBody>
      </p:sp>
      <p:sp>
        <p:nvSpPr>
          <p:cNvPr id="127" name="任意多边形 126"/>
          <p:cNvSpPr/>
          <p:nvPr/>
        </p:nvSpPr>
        <p:spPr>
          <a:xfrm>
            <a:off x="578658" y="3266594"/>
            <a:ext cx="347978" cy="347978"/>
          </a:xfrm>
          <a:custGeom>
            <a:avLst/>
            <a:gdLst>
              <a:gd name="connsiteX0" fmla="*/ 547602 w 1095204"/>
              <a:gd name="connsiteY0" fmla="*/ 190258 h 1095204"/>
              <a:gd name="connsiteX1" fmla="*/ 190258 w 1095204"/>
              <a:gd name="connsiteY1" fmla="*/ 547602 h 1095204"/>
              <a:gd name="connsiteX2" fmla="*/ 547602 w 1095204"/>
              <a:gd name="connsiteY2" fmla="*/ 904946 h 1095204"/>
              <a:gd name="connsiteX3" fmla="*/ 904946 w 1095204"/>
              <a:gd name="connsiteY3" fmla="*/ 547602 h 1095204"/>
              <a:gd name="connsiteX4" fmla="*/ 547602 w 1095204"/>
              <a:gd name="connsiteY4" fmla="*/ 190258 h 1095204"/>
              <a:gd name="connsiteX5" fmla="*/ 547602 w 1095204"/>
              <a:gd name="connsiteY5" fmla="*/ 0 h 1095204"/>
              <a:gd name="connsiteX6" fmla="*/ 1095204 w 1095204"/>
              <a:gd name="connsiteY6" fmla="*/ 547602 h 1095204"/>
              <a:gd name="connsiteX7" fmla="*/ 547602 w 1095204"/>
              <a:gd name="connsiteY7" fmla="*/ 1095204 h 1095204"/>
              <a:gd name="connsiteX8" fmla="*/ 0 w 1095204"/>
              <a:gd name="connsiteY8" fmla="*/ 547602 h 1095204"/>
              <a:gd name="connsiteX9" fmla="*/ 547602 w 1095204"/>
              <a:gd name="connsiteY9" fmla="*/ 0 h 10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5204" h="1095204">
                <a:moveTo>
                  <a:pt x="547602" y="190258"/>
                </a:moveTo>
                <a:cubicBezTo>
                  <a:pt x="350246" y="190258"/>
                  <a:pt x="190258" y="350246"/>
                  <a:pt x="190258" y="547602"/>
                </a:cubicBezTo>
                <a:cubicBezTo>
                  <a:pt x="190258" y="744958"/>
                  <a:pt x="350246" y="904946"/>
                  <a:pt x="547602" y="904946"/>
                </a:cubicBezTo>
                <a:cubicBezTo>
                  <a:pt x="744958" y="904946"/>
                  <a:pt x="904946" y="744958"/>
                  <a:pt x="904946" y="547602"/>
                </a:cubicBezTo>
                <a:cubicBezTo>
                  <a:pt x="904946" y="350246"/>
                  <a:pt x="744958" y="190258"/>
                  <a:pt x="547602" y="190258"/>
                </a:cubicBezTo>
                <a:close/>
                <a:moveTo>
                  <a:pt x="547602" y="0"/>
                </a:moveTo>
                <a:cubicBezTo>
                  <a:pt x="850034" y="0"/>
                  <a:pt x="1095204" y="245170"/>
                  <a:pt x="1095204" y="547602"/>
                </a:cubicBezTo>
                <a:cubicBezTo>
                  <a:pt x="1095204" y="850034"/>
                  <a:pt x="850034" y="1095204"/>
                  <a:pt x="547602" y="1095204"/>
                </a:cubicBezTo>
                <a:cubicBezTo>
                  <a:pt x="245170" y="1095204"/>
                  <a:pt x="0" y="850034"/>
                  <a:pt x="0" y="547602"/>
                </a:cubicBezTo>
                <a:cubicBezTo>
                  <a:pt x="0" y="245170"/>
                  <a:pt x="245170" y="0"/>
                  <a:pt x="547602" y="0"/>
                </a:cubicBezTo>
                <a:close/>
              </a:path>
            </a:pathLst>
          </a:custGeom>
          <a:solidFill>
            <a:srgbClr val="6F868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/>
          <p:cNvSpPr txBox="1"/>
          <p:nvPr/>
        </p:nvSpPr>
        <p:spPr>
          <a:xfrm>
            <a:off x="1038472" y="3245240"/>
            <a:ext cx="10956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阶段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1—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分组、任务分配、市场调研、可行性报告撰写、答辩。（第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1-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周）</a:t>
            </a:r>
          </a:p>
        </p:txBody>
      </p:sp>
      <p:sp>
        <p:nvSpPr>
          <p:cNvPr id="44" name="任意多边形 43"/>
          <p:cNvSpPr/>
          <p:nvPr/>
        </p:nvSpPr>
        <p:spPr>
          <a:xfrm>
            <a:off x="578658" y="3867181"/>
            <a:ext cx="347978" cy="347978"/>
          </a:xfrm>
          <a:custGeom>
            <a:avLst/>
            <a:gdLst>
              <a:gd name="connsiteX0" fmla="*/ 547602 w 1095204"/>
              <a:gd name="connsiteY0" fmla="*/ 190258 h 1095204"/>
              <a:gd name="connsiteX1" fmla="*/ 190258 w 1095204"/>
              <a:gd name="connsiteY1" fmla="*/ 547602 h 1095204"/>
              <a:gd name="connsiteX2" fmla="*/ 547602 w 1095204"/>
              <a:gd name="connsiteY2" fmla="*/ 904946 h 1095204"/>
              <a:gd name="connsiteX3" fmla="*/ 904946 w 1095204"/>
              <a:gd name="connsiteY3" fmla="*/ 547602 h 1095204"/>
              <a:gd name="connsiteX4" fmla="*/ 547602 w 1095204"/>
              <a:gd name="connsiteY4" fmla="*/ 190258 h 1095204"/>
              <a:gd name="connsiteX5" fmla="*/ 547602 w 1095204"/>
              <a:gd name="connsiteY5" fmla="*/ 0 h 1095204"/>
              <a:gd name="connsiteX6" fmla="*/ 1095204 w 1095204"/>
              <a:gd name="connsiteY6" fmla="*/ 547602 h 1095204"/>
              <a:gd name="connsiteX7" fmla="*/ 547602 w 1095204"/>
              <a:gd name="connsiteY7" fmla="*/ 1095204 h 1095204"/>
              <a:gd name="connsiteX8" fmla="*/ 0 w 1095204"/>
              <a:gd name="connsiteY8" fmla="*/ 547602 h 1095204"/>
              <a:gd name="connsiteX9" fmla="*/ 547602 w 1095204"/>
              <a:gd name="connsiteY9" fmla="*/ 0 h 10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5204" h="1095204">
                <a:moveTo>
                  <a:pt x="547602" y="190258"/>
                </a:moveTo>
                <a:cubicBezTo>
                  <a:pt x="350246" y="190258"/>
                  <a:pt x="190258" y="350246"/>
                  <a:pt x="190258" y="547602"/>
                </a:cubicBezTo>
                <a:cubicBezTo>
                  <a:pt x="190258" y="744958"/>
                  <a:pt x="350246" y="904946"/>
                  <a:pt x="547602" y="904946"/>
                </a:cubicBezTo>
                <a:cubicBezTo>
                  <a:pt x="744958" y="904946"/>
                  <a:pt x="904946" y="744958"/>
                  <a:pt x="904946" y="547602"/>
                </a:cubicBezTo>
                <a:cubicBezTo>
                  <a:pt x="904946" y="350246"/>
                  <a:pt x="744958" y="190258"/>
                  <a:pt x="547602" y="190258"/>
                </a:cubicBezTo>
                <a:close/>
                <a:moveTo>
                  <a:pt x="547602" y="0"/>
                </a:moveTo>
                <a:cubicBezTo>
                  <a:pt x="850034" y="0"/>
                  <a:pt x="1095204" y="245170"/>
                  <a:pt x="1095204" y="547602"/>
                </a:cubicBezTo>
                <a:cubicBezTo>
                  <a:pt x="1095204" y="850034"/>
                  <a:pt x="850034" y="1095204"/>
                  <a:pt x="547602" y="1095204"/>
                </a:cubicBezTo>
                <a:cubicBezTo>
                  <a:pt x="245170" y="1095204"/>
                  <a:pt x="0" y="850034"/>
                  <a:pt x="0" y="547602"/>
                </a:cubicBezTo>
                <a:cubicBezTo>
                  <a:pt x="0" y="245170"/>
                  <a:pt x="245170" y="0"/>
                  <a:pt x="547602" y="0"/>
                </a:cubicBezTo>
                <a:close/>
              </a:path>
            </a:pathLst>
          </a:custGeom>
          <a:solidFill>
            <a:srgbClr val="6F868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052583" y="3786283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阶段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2—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硬件设计制作、软件编程、中期检查。（第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3-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周）</a:t>
            </a:r>
          </a:p>
        </p:txBody>
      </p:sp>
      <p:sp>
        <p:nvSpPr>
          <p:cNvPr id="46" name="任意多边形 45"/>
          <p:cNvSpPr/>
          <p:nvPr/>
        </p:nvSpPr>
        <p:spPr>
          <a:xfrm>
            <a:off x="578658" y="4413554"/>
            <a:ext cx="347978" cy="347978"/>
          </a:xfrm>
          <a:custGeom>
            <a:avLst/>
            <a:gdLst>
              <a:gd name="connsiteX0" fmla="*/ 547602 w 1095204"/>
              <a:gd name="connsiteY0" fmla="*/ 190258 h 1095204"/>
              <a:gd name="connsiteX1" fmla="*/ 190258 w 1095204"/>
              <a:gd name="connsiteY1" fmla="*/ 547602 h 1095204"/>
              <a:gd name="connsiteX2" fmla="*/ 547602 w 1095204"/>
              <a:gd name="connsiteY2" fmla="*/ 904946 h 1095204"/>
              <a:gd name="connsiteX3" fmla="*/ 904946 w 1095204"/>
              <a:gd name="connsiteY3" fmla="*/ 547602 h 1095204"/>
              <a:gd name="connsiteX4" fmla="*/ 547602 w 1095204"/>
              <a:gd name="connsiteY4" fmla="*/ 190258 h 1095204"/>
              <a:gd name="connsiteX5" fmla="*/ 547602 w 1095204"/>
              <a:gd name="connsiteY5" fmla="*/ 0 h 1095204"/>
              <a:gd name="connsiteX6" fmla="*/ 1095204 w 1095204"/>
              <a:gd name="connsiteY6" fmla="*/ 547602 h 1095204"/>
              <a:gd name="connsiteX7" fmla="*/ 547602 w 1095204"/>
              <a:gd name="connsiteY7" fmla="*/ 1095204 h 1095204"/>
              <a:gd name="connsiteX8" fmla="*/ 0 w 1095204"/>
              <a:gd name="connsiteY8" fmla="*/ 547602 h 1095204"/>
              <a:gd name="connsiteX9" fmla="*/ 547602 w 1095204"/>
              <a:gd name="connsiteY9" fmla="*/ 0 h 10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5204" h="1095204">
                <a:moveTo>
                  <a:pt x="547602" y="190258"/>
                </a:moveTo>
                <a:cubicBezTo>
                  <a:pt x="350246" y="190258"/>
                  <a:pt x="190258" y="350246"/>
                  <a:pt x="190258" y="547602"/>
                </a:cubicBezTo>
                <a:cubicBezTo>
                  <a:pt x="190258" y="744958"/>
                  <a:pt x="350246" y="904946"/>
                  <a:pt x="547602" y="904946"/>
                </a:cubicBezTo>
                <a:cubicBezTo>
                  <a:pt x="744958" y="904946"/>
                  <a:pt x="904946" y="744958"/>
                  <a:pt x="904946" y="547602"/>
                </a:cubicBezTo>
                <a:cubicBezTo>
                  <a:pt x="904946" y="350246"/>
                  <a:pt x="744958" y="190258"/>
                  <a:pt x="547602" y="190258"/>
                </a:cubicBezTo>
                <a:close/>
                <a:moveTo>
                  <a:pt x="547602" y="0"/>
                </a:moveTo>
                <a:cubicBezTo>
                  <a:pt x="850034" y="0"/>
                  <a:pt x="1095204" y="245170"/>
                  <a:pt x="1095204" y="547602"/>
                </a:cubicBezTo>
                <a:cubicBezTo>
                  <a:pt x="1095204" y="850034"/>
                  <a:pt x="850034" y="1095204"/>
                  <a:pt x="547602" y="1095204"/>
                </a:cubicBezTo>
                <a:cubicBezTo>
                  <a:pt x="245170" y="1095204"/>
                  <a:pt x="0" y="850034"/>
                  <a:pt x="0" y="547602"/>
                </a:cubicBezTo>
                <a:cubicBezTo>
                  <a:pt x="0" y="245170"/>
                  <a:pt x="245170" y="0"/>
                  <a:pt x="547602" y="0"/>
                </a:cubicBezTo>
                <a:close/>
              </a:path>
            </a:pathLst>
          </a:custGeom>
          <a:solidFill>
            <a:srgbClr val="6F868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1054255" y="4332878"/>
            <a:ext cx="6494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阶段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3—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硬件调试、软件调试。 （第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7-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周）</a:t>
            </a:r>
          </a:p>
        </p:txBody>
      </p:sp>
      <p:sp>
        <p:nvSpPr>
          <p:cNvPr id="48" name="任意多边形 47"/>
          <p:cNvSpPr/>
          <p:nvPr/>
        </p:nvSpPr>
        <p:spPr>
          <a:xfrm>
            <a:off x="578658" y="5029940"/>
            <a:ext cx="347978" cy="347978"/>
          </a:xfrm>
          <a:custGeom>
            <a:avLst/>
            <a:gdLst>
              <a:gd name="connsiteX0" fmla="*/ 547602 w 1095204"/>
              <a:gd name="connsiteY0" fmla="*/ 190258 h 1095204"/>
              <a:gd name="connsiteX1" fmla="*/ 190258 w 1095204"/>
              <a:gd name="connsiteY1" fmla="*/ 547602 h 1095204"/>
              <a:gd name="connsiteX2" fmla="*/ 547602 w 1095204"/>
              <a:gd name="connsiteY2" fmla="*/ 904946 h 1095204"/>
              <a:gd name="connsiteX3" fmla="*/ 904946 w 1095204"/>
              <a:gd name="connsiteY3" fmla="*/ 547602 h 1095204"/>
              <a:gd name="connsiteX4" fmla="*/ 547602 w 1095204"/>
              <a:gd name="connsiteY4" fmla="*/ 190258 h 1095204"/>
              <a:gd name="connsiteX5" fmla="*/ 547602 w 1095204"/>
              <a:gd name="connsiteY5" fmla="*/ 0 h 1095204"/>
              <a:gd name="connsiteX6" fmla="*/ 1095204 w 1095204"/>
              <a:gd name="connsiteY6" fmla="*/ 547602 h 1095204"/>
              <a:gd name="connsiteX7" fmla="*/ 547602 w 1095204"/>
              <a:gd name="connsiteY7" fmla="*/ 1095204 h 1095204"/>
              <a:gd name="connsiteX8" fmla="*/ 0 w 1095204"/>
              <a:gd name="connsiteY8" fmla="*/ 547602 h 1095204"/>
              <a:gd name="connsiteX9" fmla="*/ 547602 w 1095204"/>
              <a:gd name="connsiteY9" fmla="*/ 0 h 10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5204" h="1095204">
                <a:moveTo>
                  <a:pt x="547602" y="190258"/>
                </a:moveTo>
                <a:cubicBezTo>
                  <a:pt x="350246" y="190258"/>
                  <a:pt x="190258" y="350246"/>
                  <a:pt x="190258" y="547602"/>
                </a:cubicBezTo>
                <a:cubicBezTo>
                  <a:pt x="190258" y="744958"/>
                  <a:pt x="350246" y="904946"/>
                  <a:pt x="547602" y="904946"/>
                </a:cubicBezTo>
                <a:cubicBezTo>
                  <a:pt x="744958" y="904946"/>
                  <a:pt x="904946" y="744958"/>
                  <a:pt x="904946" y="547602"/>
                </a:cubicBezTo>
                <a:cubicBezTo>
                  <a:pt x="904946" y="350246"/>
                  <a:pt x="744958" y="190258"/>
                  <a:pt x="547602" y="190258"/>
                </a:cubicBezTo>
                <a:close/>
                <a:moveTo>
                  <a:pt x="547602" y="0"/>
                </a:moveTo>
                <a:cubicBezTo>
                  <a:pt x="850034" y="0"/>
                  <a:pt x="1095204" y="245170"/>
                  <a:pt x="1095204" y="547602"/>
                </a:cubicBezTo>
                <a:cubicBezTo>
                  <a:pt x="1095204" y="850034"/>
                  <a:pt x="850034" y="1095204"/>
                  <a:pt x="547602" y="1095204"/>
                </a:cubicBezTo>
                <a:cubicBezTo>
                  <a:pt x="245170" y="1095204"/>
                  <a:pt x="0" y="850034"/>
                  <a:pt x="0" y="547602"/>
                </a:cubicBezTo>
                <a:cubicBezTo>
                  <a:pt x="0" y="245170"/>
                  <a:pt x="245170" y="0"/>
                  <a:pt x="547602" y="0"/>
                </a:cubicBezTo>
                <a:close/>
              </a:path>
            </a:pathLst>
          </a:custGeom>
          <a:solidFill>
            <a:srgbClr val="6F868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1036800" y="4932995"/>
            <a:ext cx="5878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阶段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4—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系统调试、功能测试。 （第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周）</a:t>
            </a:r>
          </a:p>
        </p:txBody>
      </p:sp>
      <p:sp>
        <p:nvSpPr>
          <p:cNvPr id="50" name="任意多边形 49"/>
          <p:cNvSpPr/>
          <p:nvPr/>
        </p:nvSpPr>
        <p:spPr>
          <a:xfrm>
            <a:off x="595010" y="5651356"/>
            <a:ext cx="347978" cy="347978"/>
          </a:xfrm>
          <a:custGeom>
            <a:avLst/>
            <a:gdLst>
              <a:gd name="connsiteX0" fmla="*/ 547602 w 1095204"/>
              <a:gd name="connsiteY0" fmla="*/ 190258 h 1095204"/>
              <a:gd name="connsiteX1" fmla="*/ 190258 w 1095204"/>
              <a:gd name="connsiteY1" fmla="*/ 547602 h 1095204"/>
              <a:gd name="connsiteX2" fmla="*/ 547602 w 1095204"/>
              <a:gd name="connsiteY2" fmla="*/ 904946 h 1095204"/>
              <a:gd name="connsiteX3" fmla="*/ 904946 w 1095204"/>
              <a:gd name="connsiteY3" fmla="*/ 547602 h 1095204"/>
              <a:gd name="connsiteX4" fmla="*/ 547602 w 1095204"/>
              <a:gd name="connsiteY4" fmla="*/ 190258 h 1095204"/>
              <a:gd name="connsiteX5" fmla="*/ 547602 w 1095204"/>
              <a:gd name="connsiteY5" fmla="*/ 0 h 1095204"/>
              <a:gd name="connsiteX6" fmla="*/ 1095204 w 1095204"/>
              <a:gd name="connsiteY6" fmla="*/ 547602 h 1095204"/>
              <a:gd name="connsiteX7" fmla="*/ 547602 w 1095204"/>
              <a:gd name="connsiteY7" fmla="*/ 1095204 h 1095204"/>
              <a:gd name="connsiteX8" fmla="*/ 0 w 1095204"/>
              <a:gd name="connsiteY8" fmla="*/ 547602 h 1095204"/>
              <a:gd name="connsiteX9" fmla="*/ 547602 w 1095204"/>
              <a:gd name="connsiteY9" fmla="*/ 0 h 10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5204" h="1095204">
                <a:moveTo>
                  <a:pt x="547602" y="190258"/>
                </a:moveTo>
                <a:cubicBezTo>
                  <a:pt x="350246" y="190258"/>
                  <a:pt x="190258" y="350246"/>
                  <a:pt x="190258" y="547602"/>
                </a:cubicBezTo>
                <a:cubicBezTo>
                  <a:pt x="190258" y="744958"/>
                  <a:pt x="350246" y="904946"/>
                  <a:pt x="547602" y="904946"/>
                </a:cubicBezTo>
                <a:cubicBezTo>
                  <a:pt x="744958" y="904946"/>
                  <a:pt x="904946" y="744958"/>
                  <a:pt x="904946" y="547602"/>
                </a:cubicBezTo>
                <a:cubicBezTo>
                  <a:pt x="904946" y="350246"/>
                  <a:pt x="744958" y="190258"/>
                  <a:pt x="547602" y="190258"/>
                </a:cubicBezTo>
                <a:close/>
                <a:moveTo>
                  <a:pt x="547602" y="0"/>
                </a:moveTo>
                <a:cubicBezTo>
                  <a:pt x="850034" y="0"/>
                  <a:pt x="1095204" y="245170"/>
                  <a:pt x="1095204" y="547602"/>
                </a:cubicBezTo>
                <a:cubicBezTo>
                  <a:pt x="1095204" y="850034"/>
                  <a:pt x="850034" y="1095204"/>
                  <a:pt x="547602" y="1095204"/>
                </a:cubicBezTo>
                <a:cubicBezTo>
                  <a:pt x="245170" y="1095204"/>
                  <a:pt x="0" y="850034"/>
                  <a:pt x="0" y="547602"/>
                </a:cubicBezTo>
                <a:cubicBezTo>
                  <a:pt x="0" y="245170"/>
                  <a:pt x="245170" y="0"/>
                  <a:pt x="547602" y="0"/>
                </a:cubicBezTo>
                <a:close/>
              </a:path>
            </a:pathLst>
          </a:custGeom>
          <a:solidFill>
            <a:srgbClr val="6F868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1052583" y="5553937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阶段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5—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结题报告撰写、归档资料整理提交。 （第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周）</a:t>
            </a:r>
          </a:p>
        </p:txBody>
      </p:sp>
      <p:sp>
        <p:nvSpPr>
          <p:cNvPr id="2" name="矩形 1"/>
          <p:cNvSpPr/>
          <p:nvPr/>
        </p:nvSpPr>
        <p:spPr>
          <a:xfrm>
            <a:off x="542175" y="6235283"/>
            <a:ext cx="112426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注：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课题组长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必须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每周提交《课题进度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对照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表》和《每周小组网上研讨记录表》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到学习通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087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rot="10800000">
            <a:off x="11266026" y="2539539"/>
            <a:ext cx="925974" cy="1851948"/>
          </a:xfrm>
          <a:custGeom>
            <a:avLst/>
            <a:gdLst>
              <a:gd name="connsiteX0" fmla="*/ 0 w 925974"/>
              <a:gd name="connsiteY0" fmla="*/ 0 h 1851948"/>
              <a:gd name="connsiteX1" fmla="*/ 925974 w 925974"/>
              <a:gd name="connsiteY1" fmla="*/ 925974 h 1851948"/>
              <a:gd name="connsiteX2" fmla="*/ 0 w 925974"/>
              <a:gd name="connsiteY2" fmla="*/ 1851948 h 185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5974" h="1851948">
                <a:moveTo>
                  <a:pt x="0" y="0"/>
                </a:moveTo>
                <a:lnTo>
                  <a:pt x="925974" y="925974"/>
                </a:lnTo>
                <a:lnTo>
                  <a:pt x="0" y="1851948"/>
                </a:lnTo>
                <a:close/>
              </a:path>
            </a:pathLst>
          </a:custGeom>
          <a:solidFill>
            <a:srgbClr val="6F86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658204" y="1999887"/>
            <a:ext cx="2945154" cy="2945154"/>
            <a:chOff x="4658204" y="1999887"/>
            <a:chExt cx="2945154" cy="2945154"/>
          </a:xfrm>
        </p:grpSpPr>
        <p:sp>
          <p:nvSpPr>
            <p:cNvPr id="13" name="菱形 12"/>
            <p:cNvSpPr/>
            <p:nvPr/>
          </p:nvSpPr>
          <p:spPr>
            <a:xfrm>
              <a:off x="4658204" y="1999887"/>
              <a:ext cx="2945154" cy="2945154"/>
            </a:xfrm>
            <a:prstGeom prst="diamond">
              <a:avLst/>
            </a:prstGeom>
            <a:solidFill>
              <a:srgbClr val="CB7D4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753071" y="2438795"/>
              <a:ext cx="731290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dirty="0">
                  <a:solidFill>
                    <a:schemeClr val="bg1"/>
                  </a:solidFill>
                  <a:latin typeface="Broadway" panose="04040905080B02020502" pitchFamily="82" charset="0"/>
                </a:rPr>
                <a:t>2</a:t>
              </a:r>
              <a:endParaRPr lang="zh-CN" altLang="en-US" sz="66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5211667" y="3472464"/>
              <a:ext cx="183822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5186508" y="3546791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元器件采购</a:t>
              </a:r>
            </a:p>
          </p:txBody>
        </p:sp>
      </p:grpSp>
      <p:sp>
        <p:nvSpPr>
          <p:cNvPr id="9" name="任意多边形 8"/>
          <p:cNvSpPr/>
          <p:nvPr/>
        </p:nvSpPr>
        <p:spPr>
          <a:xfrm>
            <a:off x="0" y="2539539"/>
            <a:ext cx="925974" cy="1851948"/>
          </a:xfrm>
          <a:custGeom>
            <a:avLst/>
            <a:gdLst>
              <a:gd name="connsiteX0" fmla="*/ 0 w 925974"/>
              <a:gd name="connsiteY0" fmla="*/ 0 h 1851948"/>
              <a:gd name="connsiteX1" fmla="*/ 925974 w 925974"/>
              <a:gd name="connsiteY1" fmla="*/ 925974 h 1851948"/>
              <a:gd name="connsiteX2" fmla="*/ 0 w 925974"/>
              <a:gd name="connsiteY2" fmla="*/ 1851948 h 185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5974" h="1851948">
                <a:moveTo>
                  <a:pt x="0" y="0"/>
                </a:moveTo>
                <a:lnTo>
                  <a:pt x="925974" y="925974"/>
                </a:lnTo>
                <a:lnTo>
                  <a:pt x="0" y="1851948"/>
                </a:lnTo>
                <a:close/>
              </a:path>
            </a:pathLst>
          </a:custGeom>
          <a:solidFill>
            <a:srgbClr val="6F86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489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组合 578"/>
          <p:cNvGrpSpPr/>
          <p:nvPr/>
        </p:nvGrpSpPr>
        <p:grpSpPr>
          <a:xfrm>
            <a:off x="766763" y="857986"/>
            <a:ext cx="2117035" cy="165373"/>
            <a:chOff x="2218037" y="6272597"/>
            <a:chExt cx="2734179" cy="2135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580" name="组合 579"/>
            <p:cNvGrpSpPr/>
            <p:nvPr/>
          </p:nvGrpSpPr>
          <p:grpSpPr>
            <a:xfrm flipV="1">
              <a:off x="2218037" y="6272597"/>
              <a:ext cx="1341734" cy="213582"/>
              <a:chOff x="2218037" y="5369771"/>
              <a:chExt cx="5671594" cy="902826"/>
            </a:xfrm>
          </p:grpSpPr>
          <p:sp>
            <p:nvSpPr>
              <p:cNvPr id="587" name="矩形 586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矩形 587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9" name="矩形 588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0" name="矩形 589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1" name="矩形 590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1" name="组合 580"/>
            <p:cNvGrpSpPr/>
            <p:nvPr/>
          </p:nvGrpSpPr>
          <p:grpSpPr>
            <a:xfrm flipV="1">
              <a:off x="3610482" y="6272597"/>
              <a:ext cx="1341734" cy="213582"/>
              <a:chOff x="2218037" y="5369771"/>
              <a:chExt cx="5671594" cy="902826"/>
            </a:xfrm>
          </p:grpSpPr>
          <p:sp>
            <p:nvSpPr>
              <p:cNvPr id="582" name="矩形 581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3" name="矩形 582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4" name="矩形 583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5" name="矩形 584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6" name="矩形 585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11" name="任意多边形 610"/>
          <p:cNvSpPr/>
          <p:nvPr/>
        </p:nvSpPr>
        <p:spPr>
          <a:xfrm>
            <a:off x="1082588" y="1471646"/>
            <a:ext cx="347978" cy="347978"/>
          </a:xfrm>
          <a:custGeom>
            <a:avLst/>
            <a:gdLst>
              <a:gd name="connsiteX0" fmla="*/ 547602 w 1095204"/>
              <a:gd name="connsiteY0" fmla="*/ 190258 h 1095204"/>
              <a:gd name="connsiteX1" fmla="*/ 190258 w 1095204"/>
              <a:gd name="connsiteY1" fmla="*/ 547602 h 1095204"/>
              <a:gd name="connsiteX2" fmla="*/ 547602 w 1095204"/>
              <a:gd name="connsiteY2" fmla="*/ 904946 h 1095204"/>
              <a:gd name="connsiteX3" fmla="*/ 904946 w 1095204"/>
              <a:gd name="connsiteY3" fmla="*/ 547602 h 1095204"/>
              <a:gd name="connsiteX4" fmla="*/ 547602 w 1095204"/>
              <a:gd name="connsiteY4" fmla="*/ 190258 h 1095204"/>
              <a:gd name="connsiteX5" fmla="*/ 547602 w 1095204"/>
              <a:gd name="connsiteY5" fmla="*/ 0 h 1095204"/>
              <a:gd name="connsiteX6" fmla="*/ 1095204 w 1095204"/>
              <a:gd name="connsiteY6" fmla="*/ 547602 h 1095204"/>
              <a:gd name="connsiteX7" fmla="*/ 547602 w 1095204"/>
              <a:gd name="connsiteY7" fmla="*/ 1095204 h 1095204"/>
              <a:gd name="connsiteX8" fmla="*/ 0 w 1095204"/>
              <a:gd name="connsiteY8" fmla="*/ 547602 h 1095204"/>
              <a:gd name="connsiteX9" fmla="*/ 547602 w 1095204"/>
              <a:gd name="connsiteY9" fmla="*/ 0 h 10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5204" h="1095204">
                <a:moveTo>
                  <a:pt x="547602" y="190258"/>
                </a:moveTo>
                <a:cubicBezTo>
                  <a:pt x="350246" y="190258"/>
                  <a:pt x="190258" y="350246"/>
                  <a:pt x="190258" y="547602"/>
                </a:cubicBezTo>
                <a:cubicBezTo>
                  <a:pt x="190258" y="744958"/>
                  <a:pt x="350246" y="904946"/>
                  <a:pt x="547602" y="904946"/>
                </a:cubicBezTo>
                <a:cubicBezTo>
                  <a:pt x="744958" y="904946"/>
                  <a:pt x="904946" y="744958"/>
                  <a:pt x="904946" y="547602"/>
                </a:cubicBezTo>
                <a:cubicBezTo>
                  <a:pt x="904946" y="350246"/>
                  <a:pt x="744958" y="190258"/>
                  <a:pt x="547602" y="190258"/>
                </a:cubicBezTo>
                <a:close/>
                <a:moveTo>
                  <a:pt x="547602" y="0"/>
                </a:moveTo>
                <a:cubicBezTo>
                  <a:pt x="850034" y="0"/>
                  <a:pt x="1095204" y="245170"/>
                  <a:pt x="1095204" y="547602"/>
                </a:cubicBezTo>
                <a:cubicBezTo>
                  <a:pt x="1095204" y="850034"/>
                  <a:pt x="850034" y="1095204"/>
                  <a:pt x="547602" y="1095204"/>
                </a:cubicBezTo>
                <a:cubicBezTo>
                  <a:pt x="245170" y="1095204"/>
                  <a:pt x="0" y="850034"/>
                  <a:pt x="0" y="547602"/>
                </a:cubicBezTo>
                <a:cubicBezTo>
                  <a:pt x="0" y="245170"/>
                  <a:pt x="245170" y="0"/>
                  <a:pt x="547602" y="0"/>
                </a:cubicBezTo>
                <a:close/>
              </a:path>
            </a:pathLst>
          </a:custGeom>
          <a:solidFill>
            <a:srgbClr val="CB7D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3" name="文本框 612"/>
          <p:cNvSpPr txBox="1"/>
          <p:nvPr/>
        </p:nvSpPr>
        <p:spPr>
          <a:xfrm>
            <a:off x="1529446" y="1445191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课题所需元器件开发板首先问老师实验室是否已有。</a:t>
            </a:r>
          </a:p>
        </p:txBody>
      </p:sp>
      <p:sp>
        <p:nvSpPr>
          <p:cNvPr id="614" name="文本框 613"/>
          <p:cNvSpPr txBox="1"/>
          <p:nvPr/>
        </p:nvSpPr>
        <p:spPr>
          <a:xfrm>
            <a:off x="670138" y="37513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元器件采购</a:t>
            </a:r>
          </a:p>
        </p:txBody>
      </p:sp>
      <p:sp>
        <p:nvSpPr>
          <p:cNvPr id="37" name="任意多边形 36"/>
          <p:cNvSpPr/>
          <p:nvPr/>
        </p:nvSpPr>
        <p:spPr>
          <a:xfrm>
            <a:off x="1106283" y="2063533"/>
            <a:ext cx="347978" cy="347978"/>
          </a:xfrm>
          <a:custGeom>
            <a:avLst/>
            <a:gdLst>
              <a:gd name="connsiteX0" fmla="*/ 547602 w 1095204"/>
              <a:gd name="connsiteY0" fmla="*/ 190258 h 1095204"/>
              <a:gd name="connsiteX1" fmla="*/ 190258 w 1095204"/>
              <a:gd name="connsiteY1" fmla="*/ 547602 h 1095204"/>
              <a:gd name="connsiteX2" fmla="*/ 547602 w 1095204"/>
              <a:gd name="connsiteY2" fmla="*/ 904946 h 1095204"/>
              <a:gd name="connsiteX3" fmla="*/ 904946 w 1095204"/>
              <a:gd name="connsiteY3" fmla="*/ 547602 h 1095204"/>
              <a:gd name="connsiteX4" fmla="*/ 547602 w 1095204"/>
              <a:gd name="connsiteY4" fmla="*/ 190258 h 1095204"/>
              <a:gd name="connsiteX5" fmla="*/ 547602 w 1095204"/>
              <a:gd name="connsiteY5" fmla="*/ 0 h 1095204"/>
              <a:gd name="connsiteX6" fmla="*/ 1095204 w 1095204"/>
              <a:gd name="connsiteY6" fmla="*/ 547602 h 1095204"/>
              <a:gd name="connsiteX7" fmla="*/ 547602 w 1095204"/>
              <a:gd name="connsiteY7" fmla="*/ 1095204 h 1095204"/>
              <a:gd name="connsiteX8" fmla="*/ 0 w 1095204"/>
              <a:gd name="connsiteY8" fmla="*/ 547602 h 1095204"/>
              <a:gd name="connsiteX9" fmla="*/ 547602 w 1095204"/>
              <a:gd name="connsiteY9" fmla="*/ 0 h 10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5204" h="1095204">
                <a:moveTo>
                  <a:pt x="547602" y="190258"/>
                </a:moveTo>
                <a:cubicBezTo>
                  <a:pt x="350246" y="190258"/>
                  <a:pt x="190258" y="350246"/>
                  <a:pt x="190258" y="547602"/>
                </a:cubicBezTo>
                <a:cubicBezTo>
                  <a:pt x="190258" y="744958"/>
                  <a:pt x="350246" y="904946"/>
                  <a:pt x="547602" y="904946"/>
                </a:cubicBezTo>
                <a:cubicBezTo>
                  <a:pt x="744958" y="904946"/>
                  <a:pt x="904946" y="744958"/>
                  <a:pt x="904946" y="547602"/>
                </a:cubicBezTo>
                <a:cubicBezTo>
                  <a:pt x="904946" y="350246"/>
                  <a:pt x="744958" y="190258"/>
                  <a:pt x="547602" y="190258"/>
                </a:cubicBezTo>
                <a:close/>
                <a:moveTo>
                  <a:pt x="547602" y="0"/>
                </a:moveTo>
                <a:cubicBezTo>
                  <a:pt x="850034" y="0"/>
                  <a:pt x="1095204" y="245170"/>
                  <a:pt x="1095204" y="547602"/>
                </a:cubicBezTo>
                <a:cubicBezTo>
                  <a:pt x="1095204" y="850034"/>
                  <a:pt x="850034" y="1095204"/>
                  <a:pt x="547602" y="1095204"/>
                </a:cubicBezTo>
                <a:cubicBezTo>
                  <a:pt x="245170" y="1095204"/>
                  <a:pt x="0" y="850034"/>
                  <a:pt x="0" y="547602"/>
                </a:cubicBezTo>
                <a:cubicBezTo>
                  <a:pt x="0" y="245170"/>
                  <a:pt x="245170" y="0"/>
                  <a:pt x="547602" y="0"/>
                </a:cubicBezTo>
                <a:close/>
              </a:path>
            </a:pathLst>
          </a:custGeom>
          <a:solidFill>
            <a:srgbClr val="CB7D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591511" y="1951115"/>
            <a:ext cx="8648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老师同意可以网上采购，额度在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150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元以内。发票交老师报销。</a:t>
            </a:r>
          </a:p>
        </p:txBody>
      </p:sp>
      <p:sp>
        <p:nvSpPr>
          <p:cNvPr id="39" name="矩形 6"/>
          <p:cNvSpPr>
            <a:spLocks noChangeArrowheads="1"/>
          </p:cNvSpPr>
          <p:nvPr/>
        </p:nvSpPr>
        <p:spPr bwMode="auto">
          <a:xfrm>
            <a:off x="1531305" y="2515251"/>
            <a:ext cx="10044609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开普通发票</a:t>
            </a:r>
            <a:endParaRPr lang="en-US" altLang="zh-CN" sz="2400" dirty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发票台头：上海大学          </a:t>
            </a:r>
            <a:endParaRPr lang="en-US" altLang="zh-CN" sz="2400" dirty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税号：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1231000042502637XE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发票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上</a:t>
            </a:r>
            <a:r>
              <a:rPr lang="zh-CN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要写货品详细名称</a:t>
            </a:r>
            <a:endParaRPr lang="en-US" altLang="zh-CN" sz="2400" dirty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如果是“电子元器件一批”或单位写“批”的要附上随发票一起开出的“元器件应税劳务清单”，并加盖和发票上一致的公章。</a:t>
            </a:r>
            <a:endParaRPr lang="en-US" altLang="zh-CN" sz="2400" dirty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9134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组合 578"/>
          <p:cNvGrpSpPr/>
          <p:nvPr/>
        </p:nvGrpSpPr>
        <p:grpSpPr>
          <a:xfrm>
            <a:off x="766763" y="857986"/>
            <a:ext cx="2117035" cy="165373"/>
            <a:chOff x="2218037" y="6272597"/>
            <a:chExt cx="2734179" cy="2135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580" name="组合 579"/>
            <p:cNvGrpSpPr/>
            <p:nvPr/>
          </p:nvGrpSpPr>
          <p:grpSpPr>
            <a:xfrm flipV="1">
              <a:off x="2218037" y="6272597"/>
              <a:ext cx="1341734" cy="213582"/>
              <a:chOff x="2218037" y="5369771"/>
              <a:chExt cx="5671594" cy="902826"/>
            </a:xfrm>
          </p:grpSpPr>
          <p:sp>
            <p:nvSpPr>
              <p:cNvPr id="587" name="矩形 586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矩形 587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9" name="矩形 588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0" name="矩形 589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1" name="矩形 590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1" name="组合 580"/>
            <p:cNvGrpSpPr/>
            <p:nvPr/>
          </p:nvGrpSpPr>
          <p:grpSpPr>
            <a:xfrm flipV="1">
              <a:off x="3610482" y="6272597"/>
              <a:ext cx="1341734" cy="213582"/>
              <a:chOff x="2218037" y="5369771"/>
              <a:chExt cx="5671594" cy="902826"/>
            </a:xfrm>
          </p:grpSpPr>
          <p:sp>
            <p:nvSpPr>
              <p:cNvPr id="582" name="矩形 581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3" name="矩形 582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4" name="矩形 583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5" name="矩形 584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6" name="矩形 585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11" name="任意多边形 610"/>
          <p:cNvSpPr/>
          <p:nvPr/>
        </p:nvSpPr>
        <p:spPr>
          <a:xfrm>
            <a:off x="1308060" y="5596174"/>
            <a:ext cx="347978" cy="347978"/>
          </a:xfrm>
          <a:custGeom>
            <a:avLst/>
            <a:gdLst>
              <a:gd name="connsiteX0" fmla="*/ 547602 w 1095204"/>
              <a:gd name="connsiteY0" fmla="*/ 190258 h 1095204"/>
              <a:gd name="connsiteX1" fmla="*/ 190258 w 1095204"/>
              <a:gd name="connsiteY1" fmla="*/ 547602 h 1095204"/>
              <a:gd name="connsiteX2" fmla="*/ 547602 w 1095204"/>
              <a:gd name="connsiteY2" fmla="*/ 904946 h 1095204"/>
              <a:gd name="connsiteX3" fmla="*/ 904946 w 1095204"/>
              <a:gd name="connsiteY3" fmla="*/ 547602 h 1095204"/>
              <a:gd name="connsiteX4" fmla="*/ 547602 w 1095204"/>
              <a:gd name="connsiteY4" fmla="*/ 190258 h 1095204"/>
              <a:gd name="connsiteX5" fmla="*/ 547602 w 1095204"/>
              <a:gd name="connsiteY5" fmla="*/ 0 h 1095204"/>
              <a:gd name="connsiteX6" fmla="*/ 1095204 w 1095204"/>
              <a:gd name="connsiteY6" fmla="*/ 547602 h 1095204"/>
              <a:gd name="connsiteX7" fmla="*/ 547602 w 1095204"/>
              <a:gd name="connsiteY7" fmla="*/ 1095204 h 1095204"/>
              <a:gd name="connsiteX8" fmla="*/ 0 w 1095204"/>
              <a:gd name="connsiteY8" fmla="*/ 547602 h 1095204"/>
              <a:gd name="connsiteX9" fmla="*/ 547602 w 1095204"/>
              <a:gd name="connsiteY9" fmla="*/ 0 h 10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5204" h="1095204">
                <a:moveTo>
                  <a:pt x="547602" y="190258"/>
                </a:moveTo>
                <a:cubicBezTo>
                  <a:pt x="350246" y="190258"/>
                  <a:pt x="190258" y="350246"/>
                  <a:pt x="190258" y="547602"/>
                </a:cubicBezTo>
                <a:cubicBezTo>
                  <a:pt x="190258" y="744958"/>
                  <a:pt x="350246" y="904946"/>
                  <a:pt x="547602" y="904946"/>
                </a:cubicBezTo>
                <a:cubicBezTo>
                  <a:pt x="744958" y="904946"/>
                  <a:pt x="904946" y="744958"/>
                  <a:pt x="904946" y="547602"/>
                </a:cubicBezTo>
                <a:cubicBezTo>
                  <a:pt x="904946" y="350246"/>
                  <a:pt x="744958" y="190258"/>
                  <a:pt x="547602" y="190258"/>
                </a:cubicBezTo>
                <a:close/>
                <a:moveTo>
                  <a:pt x="547602" y="0"/>
                </a:moveTo>
                <a:cubicBezTo>
                  <a:pt x="850034" y="0"/>
                  <a:pt x="1095204" y="245170"/>
                  <a:pt x="1095204" y="547602"/>
                </a:cubicBezTo>
                <a:cubicBezTo>
                  <a:pt x="1095204" y="850034"/>
                  <a:pt x="850034" y="1095204"/>
                  <a:pt x="547602" y="1095204"/>
                </a:cubicBezTo>
                <a:cubicBezTo>
                  <a:pt x="245170" y="1095204"/>
                  <a:pt x="0" y="850034"/>
                  <a:pt x="0" y="547602"/>
                </a:cubicBezTo>
                <a:cubicBezTo>
                  <a:pt x="0" y="245170"/>
                  <a:pt x="245170" y="0"/>
                  <a:pt x="547602" y="0"/>
                </a:cubicBezTo>
                <a:close/>
              </a:path>
            </a:pathLst>
          </a:custGeom>
          <a:solidFill>
            <a:srgbClr val="CB7D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2" name="文本框 611"/>
          <p:cNvSpPr txBox="1"/>
          <p:nvPr/>
        </p:nvSpPr>
        <p:spPr>
          <a:xfrm>
            <a:off x="1753175" y="5977215"/>
            <a:ext cx="9209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如果几组合买材料，每张发票金额不能超过</a:t>
            </a:r>
            <a:r>
              <a:rPr lang="en-US" altLang="zh-CN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499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元。</a:t>
            </a:r>
          </a:p>
        </p:txBody>
      </p:sp>
      <p:sp>
        <p:nvSpPr>
          <p:cNvPr id="613" name="文本框 612"/>
          <p:cNvSpPr txBox="1"/>
          <p:nvPr/>
        </p:nvSpPr>
        <p:spPr>
          <a:xfrm>
            <a:off x="1735463" y="558917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</a:p>
        </p:txBody>
      </p:sp>
      <p:sp>
        <p:nvSpPr>
          <p:cNvPr id="614" name="文本框 613"/>
          <p:cNvSpPr txBox="1"/>
          <p:nvPr/>
        </p:nvSpPr>
        <p:spPr>
          <a:xfrm>
            <a:off x="670138" y="37513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元器件采购</a:t>
            </a:r>
          </a:p>
        </p:txBody>
      </p:sp>
      <p:pic>
        <p:nvPicPr>
          <p:cNvPr id="615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326" y="1364828"/>
            <a:ext cx="6858000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2" name="组合 591"/>
          <p:cNvGrpSpPr/>
          <p:nvPr/>
        </p:nvGrpSpPr>
        <p:grpSpPr>
          <a:xfrm>
            <a:off x="1714480" y="2249499"/>
            <a:ext cx="2039658" cy="2792188"/>
            <a:chOff x="1220408" y="2506805"/>
            <a:chExt cx="2039658" cy="2792188"/>
          </a:xfrm>
        </p:grpSpPr>
        <p:grpSp>
          <p:nvGrpSpPr>
            <p:cNvPr id="593" name="组合 592"/>
            <p:cNvGrpSpPr/>
            <p:nvPr/>
          </p:nvGrpSpPr>
          <p:grpSpPr>
            <a:xfrm rot="5166159">
              <a:off x="1608449" y="3248216"/>
              <a:ext cx="2393028" cy="910206"/>
              <a:chOff x="5428609" y="3296920"/>
              <a:chExt cx="2393028" cy="910206"/>
            </a:xfrm>
          </p:grpSpPr>
          <p:sp>
            <p:nvSpPr>
              <p:cNvPr id="596" name="等腰三角形 595"/>
              <p:cNvSpPr/>
              <p:nvPr/>
            </p:nvSpPr>
            <p:spPr>
              <a:xfrm rot="18537285">
                <a:off x="6536270" y="2921759"/>
                <a:ext cx="177706" cy="2393028"/>
              </a:xfrm>
              <a:prstGeom prst="triangle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7" name="椭圆 596"/>
              <p:cNvSpPr/>
              <p:nvPr/>
            </p:nvSpPr>
            <p:spPr>
              <a:xfrm>
                <a:off x="5638800" y="3296920"/>
                <a:ext cx="132080" cy="132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4" name="椭圆 593"/>
            <p:cNvSpPr/>
            <p:nvPr/>
          </p:nvSpPr>
          <p:spPr>
            <a:xfrm>
              <a:off x="1220408" y="4616885"/>
              <a:ext cx="682108" cy="68210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6B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F30D65"/>
                </a:solidFill>
              </a:endParaRPr>
            </a:p>
          </p:txBody>
        </p:sp>
        <p:sp>
          <p:nvSpPr>
            <p:cNvPr id="595" name="文本框 594"/>
            <p:cNvSpPr txBox="1"/>
            <p:nvPr/>
          </p:nvSpPr>
          <p:spPr>
            <a:xfrm>
              <a:off x="1280991" y="478509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D755D"/>
                  </a:solidFill>
                </a:rPr>
                <a:t>台头</a:t>
              </a:r>
            </a:p>
          </p:txBody>
        </p:sp>
      </p:grpSp>
      <p:grpSp>
        <p:nvGrpSpPr>
          <p:cNvPr id="605" name="组合 604"/>
          <p:cNvGrpSpPr/>
          <p:nvPr/>
        </p:nvGrpSpPr>
        <p:grpSpPr>
          <a:xfrm rot="16624607">
            <a:off x="7942185" y="3748216"/>
            <a:ext cx="2393028" cy="910206"/>
            <a:chOff x="5428609" y="3296920"/>
            <a:chExt cx="2393028" cy="910206"/>
          </a:xfrm>
        </p:grpSpPr>
        <p:sp>
          <p:nvSpPr>
            <p:cNvPr id="608" name="等腰三角形 607"/>
            <p:cNvSpPr/>
            <p:nvPr/>
          </p:nvSpPr>
          <p:spPr>
            <a:xfrm rot="18537285">
              <a:off x="6536270" y="2921759"/>
              <a:ext cx="177706" cy="2393028"/>
            </a:xfrm>
            <a:prstGeom prst="triangle">
              <a:avLst/>
            </a:prstGeom>
            <a:solidFill>
              <a:srgbClr val="CB7D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9" name="椭圆 608"/>
            <p:cNvSpPr/>
            <p:nvPr/>
          </p:nvSpPr>
          <p:spPr>
            <a:xfrm>
              <a:off x="5638800" y="3296920"/>
              <a:ext cx="132080" cy="1320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0" name="组合 609"/>
          <p:cNvGrpSpPr/>
          <p:nvPr/>
        </p:nvGrpSpPr>
        <p:grpSpPr>
          <a:xfrm>
            <a:off x="10284058" y="2834523"/>
            <a:ext cx="706914" cy="682108"/>
            <a:chOff x="4026051" y="5652845"/>
            <a:chExt cx="706914" cy="682108"/>
          </a:xfrm>
        </p:grpSpPr>
        <p:sp>
          <p:nvSpPr>
            <p:cNvPr id="606" name="椭圆 605"/>
            <p:cNvSpPr/>
            <p:nvPr/>
          </p:nvSpPr>
          <p:spPr>
            <a:xfrm>
              <a:off x="4026051" y="5652845"/>
              <a:ext cx="682108" cy="68210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6B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F30D65"/>
                </a:solidFill>
              </a:endParaRPr>
            </a:p>
          </p:txBody>
        </p:sp>
        <p:sp>
          <p:nvSpPr>
            <p:cNvPr id="607" name="文本框 606"/>
            <p:cNvSpPr txBox="1"/>
            <p:nvPr/>
          </p:nvSpPr>
          <p:spPr>
            <a:xfrm>
              <a:off x="4086634" y="582105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D755D"/>
                  </a:solidFill>
                </a:rPr>
                <a:t>盖章</a:t>
              </a:r>
            </a:p>
          </p:txBody>
        </p:sp>
      </p:grpSp>
      <p:grpSp>
        <p:nvGrpSpPr>
          <p:cNvPr id="599" name="组合 598"/>
          <p:cNvGrpSpPr/>
          <p:nvPr/>
        </p:nvGrpSpPr>
        <p:grpSpPr>
          <a:xfrm rot="13230743">
            <a:off x="5338087" y="2745666"/>
            <a:ext cx="3772456" cy="559974"/>
            <a:chOff x="5552477" y="3296920"/>
            <a:chExt cx="1385982" cy="559974"/>
          </a:xfrm>
        </p:grpSpPr>
        <p:sp>
          <p:nvSpPr>
            <p:cNvPr id="602" name="等腰三角形 601"/>
            <p:cNvSpPr/>
            <p:nvPr/>
          </p:nvSpPr>
          <p:spPr>
            <a:xfrm rot="18537285">
              <a:off x="6175552" y="3093987"/>
              <a:ext cx="139832" cy="1385982"/>
            </a:xfrm>
            <a:prstGeom prst="triangle">
              <a:avLst/>
            </a:prstGeom>
            <a:solidFill>
              <a:srgbClr val="CB7D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3" name="椭圆 602"/>
            <p:cNvSpPr/>
            <p:nvPr/>
          </p:nvSpPr>
          <p:spPr>
            <a:xfrm>
              <a:off x="5638800" y="3296920"/>
              <a:ext cx="132080" cy="1320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0" name="椭圆 599"/>
          <p:cNvSpPr/>
          <p:nvPr/>
        </p:nvSpPr>
        <p:spPr>
          <a:xfrm rot="19634248">
            <a:off x="6561571" y="337274"/>
            <a:ext cx="682108" cy="682108"/>
          </a:xfrm>
          <a:prstGeom prst="ellipse">
            <a:avLst/>
          </a:prstGeom>
          <a:solidFill>
            <a:schemeClr val="bg1"/>
          </a:solidFill>
          <a:ln>
            <a:solidFill>
              <a:srgbClr val="E6B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rgbClr val="F30D65"/>
              </a:solidFill>
            </a:endParaRPr>
          </a:p>
        </p:txBody>
      </p:sp>
      <p:sp>
        <p:nvSpPr>
          <p:cNvPr id="601" name="文本框 600"/>
          <p:cNvSpPr txBox="1"/>
          <p:nvPr/>
        </p:nvSpPr>
        <p:spPr>
          <a:xfrm>
            <a:off x="6627206" y="4674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D755D"/>
                </a:solidFill>
              </a:rPr>
              <a:t>限额</a:t>
            </a:r>
          </a:p>
        </p:txBody>
      </p:sp>
    </p:spTree>
    <p:extLst>
      <p:ext uri="{BB962C8B-B14F-4D97-AF65-F5344CB8AC3E}">
        <p14:creationId xmlns:p14="http://schemas.microsoft.com/office/powerpoint/2010/main" val="9162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00730" y="571635"/>
            <a:ext cx="4464050" cy="5943600"/>
          </a:xfrm>
        </p:spPr>
      </p:pic>
      <p:sp>
        <p:nvSpPr>
          <p:cNvPr id="5" name="文本框 4"/>
          <p:cNvSpPr txBox="1"/>
          <p:nvPr/>
        </p:nvSpPr>
        <p:spPr>
          <a:xfrm>
            <a:off x="313482" y="1420240"/>
            <a:ext cx="2449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销售货物或者提供应税劳务清单（样张）</a:t>
            </a:r>
          </a:p>
        </p:txBody>
      </p:sp>
    </p:spTree>
    <p:extLst>
      <p:ext uri="{BB962C8B-B14F-4D97-AF65-F5344CB8AC3E}">
        <p14:creationId xmlns:p14="http://schemas.microsoft.com/office/powerpoint/2010/main" val="111697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rot="10800000">
            <a:off x="11266026" y="2539539"/>
            <a:ext cx="925974" cy="1851948"/>
          </a:xfrm>
          <a:custGeom>
            <a:avLst/>
            <a:gdLst>
              <a:gd name="connsiteX0" fmla="*/ 0 w 925974"/>
              <a:gd name="connsiteY0" fmla="*/ 0 h 1851948"/>
              <a:gd name="connsiteX1" fmla="*/ 925974 w 925974"/>
              <a:gd name="connsiteY1" fmla="*/ 925974 h 1851948"/>
              <a:gd name="connsiteX2" fmla="*/ 0 w 925974"/>
              <a:gd name="connsiteY2" fmla="*/ 1851948 h 185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5974" h="1851948">
                <a:moveTo>
                  <a:pt x="0" y="0"/>
                </a:moveTo>
                <a:lnTo>
                  <a:pt x="925974" y="925974"/>
                </a:lnTo>
                <a:lnTo>
                  <a:pt x="0" y="1851948"/>
                </a:lnTo>
                <a:close/>
              </a:path>
            </a:pathLst>
          </a:custGeom>
          <a:solidFill>
            <a:srgbClr val="6F86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658204" y="1999887"/>
            <a:ext cx="2945154" cy="2945154"/>
            <a:chOff x="4658204" y="1999887"/>
            <a:chExt cx="2945154" cy="2945154"/>
          </a:xfrm>
        </p:grpSpPr>
        <p:sp>
          <p:nvSpPr>
            <p:cNvPr id="13" name="菱形 12"/>
            <p:cNvSpPr/>
            <p:nvPr/>
          </p:nvSpPr>
          <p:spPr>
            <a:xfrm>
              <a:off x="4658204" y="1999887"/>
              <a:ext cx="2945154" cy="2945154"/>
            </a:xfrm>
            <a:prstGeom prst="diamond">
              <a:avLst/>
            </a:prstGeom>
            <a:solidFill>
              <a:srgbClr val="CB7D4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753071" y="2438795"/>
              <a:ext cx="731290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dirty="0">
                  <a:solidFill>
                    <a:schemeClr val="bg1"/>
                  </a:solidFill>
                  <a:latin typeface="Broadway" panose="04040905080B02020502" pitchFamily="82" charset="0"/>
                </a:rPr>
                <a:t>2</a:t>
              </a:r>
              <a:endParaRPr lang="zh-CN" altLang="en-US" sz="66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5211667" y="3472464"/>
              <a:ext cx="183822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5320301" y="3722696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成绩评定</a:t>
              </a:r>
            </a:p>
          </p:txBody>
        </p:sp>
      </p:grpSp>
      <p:sp>
        <p:nvSpPr>
          <p:cNvPr id="9" name="任意多边形 8"/>
          <p:cNvSpPr/>
          <p:nvPr/>
        </p:nvSpPr>
        <p:spPr>
          <a:xfrm>
            <a:off x="0" y="2539539"/>
            <a:ext cx="925974" cy="1851948"/>
          </a:xfrm>
          <a:custGeom>
            <a:avLst/>
            <a:gdLst>
              <a:gd name="connsiteX0" fmla="*/ 0 w 925974"/>
              <a:gd name="connsiteY0" fmla="*/ 0 h 1851948"/>
              <a:gd name="connsiteX1" fmla="*/ 925974 w 925974"/>
              <a:gd name="connsiteY1" fmla="*/ 925974 h 1851948"/>
              <a:gd name="connsiteX2" fmla="*/ 0 w 925974"/>
              <a:gd name="connsiteY2" fmla="*/ 1851948 h 185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5974" h="1851948">
                <a:moveTo>
                  <a:pt x="0" y="0"/>
                </a:moveTo>
                <a:lnTo>
                  <a:pt x="925974" y="925974"/>
                </a:lnTo>
                <a:lnTo>
                  <a:pt x="0" y="1851948"/>
                </a:lnTo>
                <a:close/>
              </a:path>
            </a:pathLst>
          </a:custGeom>
          <a:solidFill>
            <a:srgbClr val="6F86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63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766763" y="857986"/>
            <a:ext cx="2117035" cy="165373"/>
            <a:chOff x="2218037" y="6272597"/>
            <a:chExt cx="2734179" cy="2135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1" name="组合 40"/>
            <p:cNvGrpSpPr/>
            <p:nvPr/>
          </p:nvGrpSpPr>
          <p:grpSpPr>
            <a:xfrm flipV="1">
              <a:off x="2218037" y="6272597"/>
              <a:ext cx="1341734" cy="213582"/>
              <a:chOff x="2218037" y="5369771"/>
              <a:chExt cx="5671594" cy="902826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 flipV="1">
              <a:off x="3610482" y="6272597"/>
              <a:ext cx="1341734" cy="213582"/>
              <a:chOff x="2218037" y="5369771"/>
              <a:chExt cx="5671594" cy="902826"/>
            </a:xfrm>
          </p:grpSpPr>
          <p:sp>
            <p:nvSpPr>
              <p:cNvPr id="43" name="矩形 42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6" name="组合 95"/>
          <p:cNvGrpSpPr/>
          <p:nvPr/>
        </p:nvGrpSpPr>
        <p:grpSpPr>
          <a:xfrm>
            <a:off x="886924" y="1998267"/>
            <a:ext cx="3482502" cy="3635978"/>
            <a:chOff x="886924" y="1655416"/>
            <a:chExt cx="3482502" cy="3635978"/>
          </a:xfrm>
        </p:grpSpPr>
        <p:sp>
          <p:nvSpPr>
            <p:cNvPr id="5" name="任意多边形 4"/>
            <p:cNvSpPr/>
            <p:nvPr/>
          </p:nvSpPr>
          <p:spPr>
            <a:xfrm rot="7127193">
              <a:off x="1594396" y="2742858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CB7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6" name="任意多边形 5"/>
            <p:cNvSpPr/>
            <p:nvPr/>
          </p:nvSpPr>
          <p:spPr>
            <a:xfrm rot="14174808">
              <a:off x="886924" y="2277459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CB7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11" name="任意多边形 10"/>
            <p:cNvSpPr/>
            <p:nvPr/>
          </p:nvSpPr>
          <p:spPr>
            <a:xfrm rot="10907324">
              <a:off x="2144626" y="2501571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A29266"/>
            </a:solidFill>
            <a:ln>
              <a:noFill/>
            </a:ln>
            <a:extLst/>
          </p:spPr>
          <p:txBody>
            <a:bodyPr/>
            <a:lstStyle/>
            <a:p>
              <a:endParaRPr lang="zh-CN" altLang="en-US" sz="1600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12" name="任意多边形 11"/>
            <p:cNvSpPr/>
            <p:nvPr/>
          </p:nvSpPr>
          <p:spPr>
            <a:xfrm rot="17954939">
              <a:off x="2105070" y="1655416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A29266"/>
            </a:solidFill>
            <a:ln>
              <a:noFill/>
            </a:ln>
            <a:extLst/>
          </p:spPr>
          <p:txBody>
            <a:bodyPr/>
            <a:lstStyle/>
            <a:p>
              <a:endParaRPr lang="zh-CN" altLang="en-US" sz="1600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275233" y="1773627"/>
              <a:ext cx="8037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功能实现</a:t>
              </a:r>
            </a:p>
          </p:txBody>
        </p:sp>
        <p:sp>
          <p:nvSpPr>
            <p:cNvPr id="17" name="任意多边形 16"/>
            <p:cNvSpPr/>
            <p:nvPr/>
          </p:nvSpPr>
          <p:spPr>
            <a:xfrm rot="14392085">
              <a:off x="2636983" y="2738947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E6B875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18" name="任意多边形 17"/>
            <p:cNvSpPr/>
            <p:nvPr/>
          </p:nvSpPr>
          <p:spPr>
            <a:xfrm rot="21439700">
              <a:off x="3210575" y="2259098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E6B875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23" name="任意多边形 22"/>
            <p:cNvSpPr/>
            <p:nvPr/>
          </p:nvSpPr>
          <p:spPr>
            <a:xfrm rot="17927193">
              <a:off x="2605060" y="3271889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6F4D39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 rot="3374808">
              <a:off x="3186814" y="3515628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6F4D39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29" name="任意多边形 28"/>
            <p:cNvSpPr/>
            <p:nvPr/>
          </p:nvSpPr>
          <p:spPr>
            <a:xfrm rot="112561">
              <a:off x="2096081" y="3508086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6F8683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 rot="7160176">
              <a:off x="2008800" y="4132543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6F8683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35" name="任意多边形 34"/>
            <p:cNvSpPr/>
            <p:nvPr/>
          </p:nvSpPr>
          <p:spPr>
            <a:xfrm rot="3592085">
              <a:off x="1615194" y="3278906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7D755D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36" name="任意多边形 35"/>
            <p:cNvSpPr/>
            <p:nvPr/>
          </p:nvSpPr>
          <p:spPr>
            <a:xfrm rot="10639700">
              <a:off x="915884" y="3537095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7D755D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398385" y="2460065"/>
              <a:ext cx="8037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设计报告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378994" y="3709095"/>
              <a:ext cx="8037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进度成本</a:t>
              </a: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062658" y="2447000"/>
              <a:ext cx="8037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团队合作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099361" y="3762337"/>
              <a:ext cx="8037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创新责任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2201094" y="4343457"/>
              <a:ext cx="8037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结题报告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6263100" y="1576785"/>
            <a:ext cx="4127809" cy="4233172"/>
            <a:chOff x="5289065" y="1576785"/>
            <a:chExt cx="1903257" cy="4233172"/>
          </a:xfrm>
        </p:grpSpPr>
        <p:sp>
          <p:nvSpPr>
            <p:cNvPr id="61" name="矩形 60"/>
            <p:cNvSpPr/>
            <p:nvPr/>
          </p:nvSpPr>
          <p:spPr>
            <a:xfrm flipV="1">
              <a:off x="5289067" y="1639586"/>
              <a:ext cx="564429" cy="511923"/>
            </a:xfrm>
            <a:prstGeom prst="rect">
              <a:avLst/>
            </a:prstGeom>
            <a:solidFill>
              <a:srgbClr val="CB7D4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 flipV="1">
              <a:off x="5289066" y="2383991"/>
              <a:ext cx="564429" cy="511923"/>
            </a:xfrm>
            <a:prstGeom prst="rect">
              <a:avLst/>
            </a:prstGeom>
            <a:solidFill>
              <a:srgbClr val="A2926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 flipV="1">
              <a:off x="5289066" y="3132475"/>
              <a:ext cx="564429" cy="511923"/>
            </a:xfrm>
            <a:prstGeom prst="rect">
              <a:avLst/>
            </a:prstGeom>
            <a:solidFill>
              <a:srgbClr val="E6B87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 flipV="1">
              <a:off x="5289066" y="3883135"/>
              <a:ext cx="564429" cy="511923"/>
            </a:xfrm>
            <a:prstGeom prst="rect">
              <a:avLst/>
            </a:prstGeom>
            <a:solidFill>
              <a:srgbClr val="6F4D3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 flipV="1">
              <a:off x="5289065" y="4587935"/>
              <a:ext cx="564429" cy="511923"/>
            </a:xfrm>
            <a:prstGeom prst="rect">
              <a:avLst/>
            </a:prstGeom>
            <a:solidFill>
              <a:srgbClr val="6F868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 flipV="1">
              <a:off x="5289065" y="5286737"/>
              <a:ext cx="564429" cy="511923"/>
            </a:xfrm>
            <a:prstGeom prst="rect">
              <a:avLst/>
            </a:prstGeom>
            <a:solidFill>
              <a:srgbClr val="7D755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5853494" y="1576785"/>
              <a:ext cx="1107996" cy="623273"/>
              <a:chOff x="5853494" y="1576785"/>
              <a:chExt cx="1107996" cy="623273"/>
            </a:xfrm>
          </p:grpSpPr>
          <p:sp>
            <p:nvSpPr>
              <p:cNvPr id="72" name="矩形 71"/>
              <p:cNvSpPr/>
              <p:nvPr/>
            </p:nvSpPr>
            <p:spPr>
              <a:xfrm>
                <a:off x="6393231" y="1676838"/>
                <a:ext cx="3970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30%</a:t>
                </a:r>
                <a:endParaRPr lang="zh-CN" altLang="en-US" sz="2800" dirty="0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5853494" y="1576785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CB7D4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功能实现</a:t>
                </a:r>
                <a:endParaRPr lang="zh-CN" altLang="en-US" b="1" dirty="0">
                  <a:solidFill>
                    <a:srgbClr val="CB7D40"/>
                  </a:solidFill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5853494" y="2292473"/>
              <a:ext cx="1338828" cy="655002"/>
              <a:chOff x="5853494" y="1576785"/>
              <a:chExt cx="1338828" cy="655002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6393231" y="1708567"/>
                <a:ext cx="3970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10%</a:t>
                </a:r>
                <a:endParaRPr lang="zh-CN" altLang="en-US" sz="2800" dirty="0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5853494" y="1576785"/>
                <a:ext cx="13388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A292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可行性报告</a:t>
                </a:r>
                <a:endParaRPr lang="zh-CN" altLang="en-US" b="1" dirty="0">
                  <a:solidFill>
                    <a:srgbClr val="A29266"/>
                  </a:solidFill>
                </a:endParaRP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5853494" y="3057439"/>
              <a:ext cx="1338828" cy="570526"/>
              <a:chOff x="5853494" y="1576785"/>
              <a:chExt cx="1338828" cy="570526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6439057" y="1624091"/>
                <a:ext cx="3970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10%</a:t>
                </a:r>
                <a:endParaRPr lang="zh-CN" altLang="en-US" sz="2800" dirty="0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5853494" y="1576785"/>
                <a:ext cx="13388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A292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创新与责任</a:t>
                </a: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5853494" y="3816256"/>
              <a:ext cx="1338828" cy="652917"/>
              <a:chOff x="5853494" y="1576785"/>
              <a:chExt cx="1338828" cy="652917"/>
            </a:xfrm>
          </p:grpSpPr>
          <p:sp>
            <p:nvSpPr>
              <p:cNvPr id="82" name="矩形 81"/>
              <p:cNvSpPr/>
              <p:nvPr/>
            </p:nvSpPr>
            <p:spPr>
              <a:xfrm>
                <a:off x="6439057" y="1706482"/>
                <a:ext cx="3970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10%</a:t>
                </a:r>
                <a:endParaRPr lang="zh-CN" altLang="en-US" sz="2800" dirty="0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5853494" y="1576785"/>
                <a:ext cx="13388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A292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进度与成本</a:t>
                </a:r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5853494" y="4512211"/>
              <a:ext cx="1107996" cy="707886"/>
              <a:chOff x="5853494" y="1576785"/>
              <a:chExt cx="1107996" cy="707886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6407492" y="1761451"/>
                <a:ext cx="3970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20%</a:t>
                </a:r>
                <a:endParaRPr lang="zh-CN" altLang="en-US" sz="2800" dirty="0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5853494" y="1576785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A292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团队合作</a:t>
                </a:r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5853494" y="5238944"/>
              <a:ext cx="1107996" cy="571013"/>
              <a:chOff x="5853494" y="1576785"/>
              <a:chExt cx="1107996" cy="571013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6417923" y="1624578"/>
                <a:ext cx="3970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20%</a:t>
                </a:r>
                <a:endParaRPr lang="zh-CN" altLang="en-US" sz="2800" dirty="0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5853494" y="1576785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A292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结题报告</a:t>
                </a:r>
              </a:p>
            </p:txBody>
          </p:sp>
        </p:grpSp>
        <p:sp>
          <p:nvSpPr>
            <p:cNvPr id="90" name="文本框 89"/>
            <p:cNvSpPr txBox="1"/>
            <p:nvPr/>
          </p:nvSpPr>
          <p:spPr>
            <a:xfrm>
              <a:off x="5379560" y="1663018"/>
              <a:ext cx="383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Broadway" panose="04040905080B02020502" pitchFamily="82" charset="0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5379560" y="2406036"/>
              <a:ext cx="383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Broadway" panose="04040905080B02020502" pitchFamily="82" charset="0"/>
                </a:rPr>
                <a:t>2</a:t>
              </a:r>
              <a:endParaRPr lang="zh-CN" altLang="en-US" sz="24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5379560" y="3188585"/>
              <a:ext cx="383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Broadway" panose="04040905080B02020502" pitchFamily="82" charset="0"/>
                </a:rPr>
                <a:t>3</a:t>
              </a:r>
              <a:endParaRPr lang="zh-CN" altLang="en-US" sz="24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5379560" y="3926307"/>
              <a:ext cx="383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Broadway" panose="04040905080B02020502" pitchFamily="82" charset="0"/>
                </a:rPr>
                <a:t>4</a:t>
              </a:r>
              <a:endParaRPr lang="zh-CN" altLang="en-US" sz="24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5379560" y="4606804"/>
              <a:ext cx="383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Broadway" panose="04040905080B02020502" pitchFamily="82" charset="0"/>
                </a:rPr>
                <a:t>5</a:t>
              </a:r>
              <a:endParaRPr lang="zh-CN" altLang="en-US" sz="24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5379560" y="5311865"/>
              <a:ext cx="383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Broadway" panose="04040905080B02020502" pitchFamily="82" charset="0"/>
                </a:rPr>
                <a:t>6</a:t>
              </a:r>
              <a:endParaRPr lang="zh-CN" altLang="en-US" sz="2400" dirty="0">
                <a:solidFill>
                  <a:schemeClr val="bg1"/>
                </a:solidFill>
                <a:latin typeface="Broadway" panose="04040905080B02020502" pitchFamily="82" charset="0"/>
              </a:endParaRP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670138" y="375131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小组成绩打分项目</a:t>
            </a:r>
          </a:p>
        </p:txBody>
      </p:sp>
    </p:spTree>
    <p:extLst>
      <p:ext uri="{BB962C8B-B14F-4D97-AF65-F5344CB8AC3E}">
        <p14:creationId xmlns:p14="http://schemas.microsoft.com/office/powerpoint/2010/main" val="4272493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766763" y="857986"/>
            <a:ext cx="2117035" cy="165373"/>
            <a:chOff x="2218037" y="6272597"/>
            <a:chExt cx="2734179" cy="2135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0" name="组合 29"/>
            <p:cNvGrpSpPr/>
            <p:nvPr/>
          </p:nvGrpSpPr>
          <p:grpSpPr>
            <a:xfrm flipV="1">
              <a:off x="2218037" y="6272597"/>
              <a:ext cx="1341734" cy="213582"/>
              <a:chOff x="2218037" y="5369771"/>
              <a:chExt cx="5671594" cy="902826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 flipV="1">
              <a:off x="3610482" y="6272597"/>
              <a:ext cx="1341734" cy="213582"/>
              <a:chOff x="2218037" y="5369771"/>
              <a:chExt cx="5671594" cy="902826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2" name="文本框 41"/>
          <p:cNvSpPr txBox="1"/>
          <p:nvPr/>
        </p:nvSpPr>
        <p:spPr>
          <a:xfrm>
            <a:off x="670138" y="37513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个人成绩计算</a:t>
            </a:r>
          </a:p>
        </p:txBody>
      </p:sp>
      <p:sp>
        <p:nvSpPr>
          <p:cNvPr id="2" name="矩形 1"/>
          <p:cNvSpPr/>
          <p:nvPr/>
        </p:nvSpPr>
        <p:spPr>
          <a:xfrm>
            <a:off x="381000" y="2920175"/>
            <a:ext cx="11522995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4513" indent="-457200">
              <a:lnSpc>
                <a:spcPct val="90000"/>
              </a:lnSpc>
            </a:pPr>
            <a:r>
              <a:rPr lang="zh-CN" altLang="en-US" sz="3600" dirty="0">
                <a:latin typeface="+mn-ea"/>
              </a:rPr>
              <a:t>个人成绩</a:t>
            </a:r>
            <a:r>
              <a:rPr lang="en-US" altLang="zh-CN" sz="3600" dirty="0">
                <a:latin typeface="+mn-ea"/>
              </a:rPr>
              <a:t>=</a:t>
            </a:r>
            <a:r>
              <a:rPr lang="zh-CN" altLang="en-US" sz="3600" dirty="0">
                <a:latin typeface="+mn-ea"/>
              </a:rPr>
              <a:t>小组成绩*</a:t>
            </a:r>
            <a:r>
              <a:rPr lang="en-US" altLang="zh-CN" sz="3600" dirty="0">
                <a:latin typeface="+mn-ea"/>
              </a:rPr>
              <a:t>50%</a:t>
            </a:r>
            <a:r>
              <a:rPr lang="zh-CN" altLang="en-US" sz="3600" dirty="0">
                <a:latin typeface="+mn-ea"/>
              </a:rPr>
              <a:t>*（</a:t>
            </a:r>
            <a:r>
              <a:rPr lang="en-US" altLang="zh-CN" sz="3600" dirty="0">
                <a:latin typeface="+mn-ea"/>
              </a:rPr>
              <a:t>1 + </a:t>
            </a:r>
            <a:r>
              <a:rPr lang="zh-CN" altLang="en-US" sz="3600" dirty="0">
                <a:latin typeface="+mn-ea"/>
              </a:rPr>
              <a:t>小组人数</a:t>
            </a:r>
            <a:r>
              <a:rPr lang="en-US" altLang="zh-CN" sz="3600" dirty="0">
                <a:latin typeface="+mn-ea"/>
              </a:rPr>
              <a:t>*</a:t>
            </a:r>
            <a:r>
              <a:rPr lang="zh-CN" altLang="en-US" sz="3600" dirty="0">
                <a:latin typeface="+mn-ea"/>
              </a:rPr>
              <a:t>个人贡献比）</a:t>
            </a:r>
            <a:endParaRPr lang="en-US" altLang="zh-CN" sz="3600" dirty="0">
              <a:latin typeface="+mn-ea"/>
            </a:endParaRPr>
          </a:p>
          <a:p>
            <a:pPr marL="544513" indent="-457200">
              <a:lnSpc>
                <a:spcPct val="90000"/>
              </a:lnSpc>
            </a:pPr>
            <a:r>
              <a:rPr lang="zh-CN" altLang="en-US" sz="3600" dirty="0">
                <a:latin typeface="+mn-ea"/>
              </a:rPr>
              <a:t>注：（个人总分不超过</a:t>
            </a:r>
            <a:r>
              <a:rPr lang="en-US" altLang="zh-CN" sz="3600" dirty="0">
                <a:latin typeface="+mn-ea"/>
              </a:rPr>
              <a:t>100</a:t>
            </a:r>
            <a:r>
              <a:rPr lang="zh-CN" altLang="en-US" sz="3600" dirty="0">
                <a:latin typeface="+mn-ea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43858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4"/>
          <p:cNvSpPr txBox="1"/>
          <p:nvPr/>
        </p:nvSpPr>
        <p:spPr>
          <a:xfrm>
            <a:off x="6321185" y="1489928"/>
            <a:ext cx="5304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Corporate BI (Centralized, Managed) </a:t>
            </a:r>
          </a:p>
          <a:p>
            <a:endParaRPr lang="en-US" sz="2400" dirty="0">
              <a:solidFill>
                <a:srgbClr val="FFFFFF"/>
              </a:solidFill>
              <a:cs typeface="Segoe UI" panose="020B0502040204020203" pitchFamily="34" charset="0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695325" y="2067369"/>
            <a:ext cx="10801350" cy="2916781"/>
            <a:chOff x="484469" y="2076334"/>
            <a:chExt cx="11320760" cy="305704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uppieren 3"/>
            <p:cNvGrpSpPr/>
            <p:nvPr/>
          </p:nvGrpSpPr>
          <p:grpSpPr>
            <a:xfrm>
              <a:off x="497115" y="3733484"/>
              <a:ext cx="5444079" cy="1399892"/>
              <a:chOff x="455144" y="3653274"/>
              <a:chExt cx="5444079" cy="1399892"/>
            </a:xfrm>
          </p:grpSpPr>
          <p:sp>
            <p:nvSpPr>
              <p:cNvPr id="7" name="Rectangle 18"/>
              <p:cNvSpPr/>
              <p:nvPr/>
            </p:nvSpPr>
            <p:spPr bwMode="auto">
              <a:xfrm>
                <a:off x="455144" y="3654261"/>
                <a:ext cx="1398905" cy="1398905"/>
              </a:xfrm>
              <a:prstGeom prst="rect">
                <a:avLst/>
              </a:prstGeom>
              <a:solidFill>
                <a:srgbClr val="6F4D39"/>
              </a:solidFill>
              <a:ln w="381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5112" tIns="93260" rIns="95112" bIns="9326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" name="TextBox 19"/>
              <p:cNvSpPr txBox="1"/>
              <p:nvPr/>
            </p:nvSpPr>
            <p:spPr>
              <a:xfrm>
                <a:off x="484469" y="3667960"/>
                <a:ext cx="1388370" cy="483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FFFFFF"/>
                    </a:solidFill>
                  </a:rPr>
                  <a:t>答疑</a:t>
                </a:r>
                <a:endParaRPr lang="en-US" sz="2400" dirty="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" name="Group 20"/>
              <p:cNvGrpSpPr/>
              <p:nvPr/>
            </p:nvGrpSpPr>
            <p:grpSpPr>
              <a:xfrm flipH="1">
                <a:off x="1271521" y="4325452"/>
                <a:ext cx="466302" cy="605699"/>
                <a:chOff x="1519068" y="3645051"/>
                <a:chExt cx="800271" cy="1108369"/>
              </a:xfrm>
              <a:solidFill>
                <a:schemeClr val="bg1"/>
              </a:solidFill>
            </p:grpSpPr>
            <p:sp>
              <p:nvSpPr>
                <p:cNvPr id="11" name="Rectangle 24"/>
                <p:cNvSpPr/>
                <p:nvPr/>
              </p:nvSpPr>
              <p:spPr>
                <a:xfrm>
                  <a:off x="1519068" y="3645051"/>
                  <a:ext cx="800271" cy="1108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158" h="2102639">
                      <a:moveTo>
                        <a:pt x="664962" y="48"/>
                      </a:moveTo>
                      <a:cubicBezTo>
                        <a:pt x="990735" y="4734"/>
                        <a:pt x="1250103" y="195355"/>
                        <a:pt x="1311820" y="389100"/>
                      </a:cubicBezTo>
                      <a:cubicBezTo>
                        <a:pt x="1373537" y="582844"/>
                        <a:pt x="1310258" y="419568"/>
                        <a:pt x="1400880" y="656280"/>
                      </a:cubicBezTo>
                      <a:cubicBezTo>
                        <a:pt x="1411818" y="757059"/>
                        <a:pt x="1339163" y="742996"/>
                        <a:pt x="1358694" y="815651"/>
                      </a:cubicBezTo>
                      <a:cubicBezTo>
                        <a:pt x="1378225" y="888305"/>
                        <a:pt x="1514158" y="1033614"/>
                        <a:pt x="1518064" y="1092206"/>
                      </a:cubicBezTo>
                      <a:cubicBezTo>
                        <a:pt x="1521971" y="1150798"/>
                        <a:pt x="1404005" y="1135955"/>
                        <a:pt x="1382130" y="1167204"/>
                      </a:cubicBezTo>
                      <a:cubicBezTo>
                        <a:pt x="1360256" y="1198453"/>
                        <a:pt x="1390724" y="1255483"/>
                        <a:pt x="1386818" y="1279701"/>
                      </a:cubicBezTo>
                      <a:cubicBezTo>
                        <a:pt x="1382912" y="1303919"/>
                        <a:pt x="1361038" y="1303137"/>
                        <a:pt x="1358694" y="1312512"/>
                      </a:cubicBezTo>
                      <a:cubicBezTo>
                        <a:pt x="1356350" y="1321887"/>
                        <a:pt x="1382912" y="1320325"/>
                        <a:pt x="1372756" y="1335949"/>
                      </a:cubicBezTo>
                      <a:cubicBezTo>
                        <a:pt x="1362600" y="1351574"/>
                        <a:pt x="1313382" y="1359387"/>
                        <a:pt x="1297758" y="1406260"/>
                      </a:cubicBezTo>
                      <a:cubicBezTo>
                        <a:pt x="1282134" y="1453134"/>
                        <a:pt x="1409474" y="1567974"/>
                        <a:pt x="1279008" y="1617192"/>
                      </a:cubicBezTo>
                      <a:cubicBezTo>
                        <a:pt x="1148544" y="1666410"/>
                        <a:pt x="978235" y="1565631"/>
                        <a:pt x="936830" y="1645316"/>
                      </a:cubicBezTo>
                      <a:cubicBezTo>
                        <a:pt x="895425" y="1725002"/>
                        <a:pt x="843864" y="1864060"/>
                        <a:pt x="1030577" y="2095304"/>
                      </a:cubicBezTo>
                      <a:cubicBezTo>
                        <a:pt x="762616" y="2092179"/>
                        <a:pt x="244660" y="2113272"/>
                        <a:pt x="18105" y="2095304"/>
                      </a:cubicBezTo>
                      <a:cubicBezTo>
                        <a:pt x="72790" y="1927340"/>
                        <a:pt x="250130" y="1765625"/>
                        <a:pt x="247786" y="1537506"/>
                      </a:cubicBezTo>
                      <a:cubicBezTo>
                        <a:pt x="245442" y="1309387"/>
                        <a:pt x="51697" y="1118768"/>
                        <a:pt x="4042" y="726591"/>
                      </a:cubicBezTo>
                      <a:cubicBezTo>
                        <a:pt x="-20283" y="526408"/>
                        <a:pt x="67548" y="340065"/>
                        <a:pt x="203379" y="206900"/>
                      </a:cubicBezTo>
                      <a:lnTo>
                        <a:pt x="203379" y="206708"/>
                      </a:lnTo>
                      <a:lnTo>
                        <a:pt x="203605" y="206708"/>
                      </a:lnTo>
                      <a:cubicBezTo>
                        <a:pt x="332512" y="77755"/>
                        <a:pt x="505564" y="-2246"/>
                        <a:pt x="664962" y="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363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82" algn="l" defTabSz="914363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63" algn="l" defTabSz="914363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45" algn="l" defTabSz="914363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727" algn="l" defTabSz="914363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909" algn="l" defTabSz="914363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90" algn="l" defTabSz="914363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272" algn="l" defTabSz="914363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454" algn="l" defTabSz="914363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836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2" name="Freeform 23"/>
                <p:cNvSpPr>
                  <a:spLocks noEditPoints="1"/>
                </p:cNvSpPr>
                <p:nvPr/>
              </p:nvSpPr>
              <p:spPr bwMode="black">
                <a:xfrm rot="17995606">
                  <a:off x="1673591" y="3750465"/>
                  <a:ext cx="368554" cy="289401"/>
                </a:xfrm>
                <a:custGeom>
                  <a:avLst/>
                  <a:gdLst>
                    <a:gd name="T0" fmla="*/ 1304 w 1423"/>
                    <a:gd name="T1" fmla="*/ 301 h 1114"/>
                    <a:gd name="T2" fmla="*/ 1302 w 1423"/>
                    <a:gd name="T3" fmla="*/ 297 h 1114"/>
                    <a:gd name="T4" fmla="*/ 719 w 1423"/>
                    <a:gd name="T5" fmla="*/ 113 h 1114"/>
                    <a:gd name="T6" fmla="*/ 496 w 1423"/>
                    <a:gd name="T7" fmla="*/ 416 h 1114"/>
                    <a:gd name="T8" fmla="*/ 441 w 1423"/>
                    <a:gd name="T9" fmla="*/ 482 h 1114"/>
                    <a:gd name="T10" fmla="*/ 375 w 1423"/>
                    <a:gd name="T11" fmla="*/ 536 h 1114"/>
                    <a:gd name="T12" fmla="*/ 290 w 1423"/>
                    <a:gd name="T13" fmla="*/ 648 h 1114"/>
                    <a:gd name="T14" fmla="*/ 470 w 1423"/>
                    <a:gd name="T15" fmla="*/ 973 h 1114"/>
                    <a:gd name="T16" fmla="*/ 610 w 1423"/>
                    <a:gd name="T17" fmla="*/ 960 h 1114"/>
                    <a:gd name="T18" fmla="*/ 775 w 1423"/>
                    <a:gd name="T19" fmla="*/ 921 h 1114"/>
                    <a:gd name="T20" fmla="*/ 932 w 1423"/>
                    <a:gd name="T21" fmla="*/ 927 h 1114"/>
                    <a:gd name="T22" fmla="*/ 1151 w 1423"/>
                    <a:gd name="T23" fmla="*/ 893 h 1114"/>
                    <a:gd name="T24" fmla="*/ 1304 w 1423"/>
                    <a:gd name="T25" fmla="*/ 301 h 1114"/>
                    <a:gd name="T26" fmla="*/ 1024 w 1423"/>
                    <a:gd name="T27" fmla="*/ 311 h 1114"/>
                    <a:gd name="T28" fmla="*/ 1024 w 1423"/>
                    <a:gd name="T29" fmla="*/ 311 h 1114"/>
                    <a:gd name="T30" fmla="*/ 873 w 1423"/>
                    <a:gd name="T31" fmla="*/ 299 h 1114"/>
                    <a:gd name="T32" fmla="*/ 873 w 1423"/>
                    <a:gd name="T33" fmla="*/ 299 h 1114"/>
                    <a:gd name="T34" fmla="*/ 799 w 1423"/>
                    <a:gd name="T35" fmla="*/ 278 h 1114"/>
                    <a:gd name="T36" fmla="*/ 821 w 1423"/>
                    <a:gd name="T37" fmla="*/ 203 h 1114"/>
                    <a:gd name="T38" fmla="*/ 828 w 1423"/>
                    <a:gd name="T39" fmla="*/ 200 h 1114"/>
                    <a:gd name="T40" fmla="*/ 1101 w 1423"/>
                    <a:gd name="T41" fmla="*/ 234 h 1114"/>
                    <a:gd name="T42" fmla="*/ 1108 w 1423"/>
                    <a:gd name="T43" fmla="*/ 244 h 1114"/>
                    <a:gd name="T44" fmla="*/ 1087 w 1423"/>
                    <a:gd name="T45" fmla="*/ 318 h 1114"/>
                    <a:gd name="T46" fmla="*/ 1024 w 1423"/>
                    <a:gd name="T47" fmla="*/ 311 h 1114"/>
                    <a:gd name="T48" fmla="*/ 14 w 1423"/>
                    <a:gd name="T49" fmla="*/ 967 h 1114"/>
                    <a:gd name="T50" fmla="*/ 53 w 1423"/>
                    <a:gd name="T51" fmla="*/ 1037 h 1114"/>
                    <a:gd name="T52" fmla="*/ 115 w 1423"/>
                    <a:gd name="T53" fmla="*/ 1064 h 1114"/>
                    <a:gd name="T54" fmla="*/ 24 w 1423"/>
                    <a:gd name="T55" fmla="*/ 900 h 1114"/>
                    <a:gd name="T56" fmla="*/ 14 w 1423"/>
                    <a:gd name="T57" fmla="*/ 967 h 1114"/>
                    <a:gd name="T58" fmla="*/ 400 w 1423"/>
                    <a:gd name="T59" fmla="*/ 959 h 1114"/>
                    <a:gd name="T60" fmla="*/ 265 w 1423"/>
                    <a:gd name="T61" fmla="*/ 714 h 1114"/>
                    <a:gd name="T62" fmla="*/ 190 w 1423"/>
                    <a:gd name="T63" fmla="*/ 686 h 1114"/>
                    <a:gd name="T64" fmla="*/ 175 w 1423"/>
                    <a:gd name="T65" fmla="*/ 764 h 1114"/>
                    <a:gd name="T66" fmla="*/ 310 w 1423"/>
                    <a:gd name="T67" fmla="*/ 1008 h 1114"/>
                    <a:gd name="T68" fmla="*/ 385 w 1423"/>
                    <a:gd name="T69" fmla="*/ 1037 h 1114"/>
                    <a:gd name="T70" fmla="*/ 400 w 1423"/>
                    <a:gd name="T71" fmla="*/ 959 h 1114"/>
                    <a:gd name="T72" fmla="*/ 266 w 1423"/>
                    <a:gd name="T73" fmla="*/ 1026 h 1114"/>
                    <a:gd name="T74" fmla="*/ 136 w 1423"/>
                    <a:gd name="T75" fmla="*/ 792 h 1114"/>
                    <a:gd name="T76" fmla="*/ 65 w 1423"/>
                    <a:gd name="T77" fmla="*/ 764 h 1114"/>
                    <a:gd name="T78" fmla="*/ 50 w 1423"/>
                    <a:gd name="T79" fmla="*/ 840 h 1114"/>
                    <a:gd name="T80" fmla="*/ 180 w 1423"/>
                    <a:gd name="T81" fmla="*/ 1074 h 1114"/>
                    <a:gd name="T82" fmla="*/ 251 w 1423"/>
                    <a:gd name="T83" fmla="*/ 1101 h 1114"/>
                    <a:gd name="T84" fmla="*/ 266 w 1423"/>
                    <a:gd name="T85" fmla="*/ 1026 h 1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423" h="1114">
                      <a:moveTo>
                        <a:pt x="1304" y="301"/>
                      </a:moveTo>
                      <a:cubicBezTo>
                        <a:pt x="1303" y="298"/>
                        <a:pt x="1304" y="300"/>
                        <a:pt x="1302" y="297"/>
                      </a:cubicBezTo>
                      <a:cubicBezTo>
                        <a:pt x="1184" y="83"/>
                        <a:pt x="922" y="0"/>
                        <a:pt x="719" y="113"/>
                      </a:cubicBezTo>
                      <a:cubicBezTo>
                        <a:pt x="602" y="177"/>
                        <a:pt x="570" y="311"/>
                        <a:pt x="496" y="416"/>
                      </a:cubicBezTo>
                      <a:cubicBezTo>
                        <a:pt x="476" y="444"/>
                        <a:pt x="458" y="465"/>
                        <a:pt x="441" y="482"/>
                      </a:cubicBezTo>
                      <a:cubicBezTo>
                        <a:pt x="418" y="504"/>
                        <a:pt x="397" y="520"/>
                        <a:pt x="375" y="536"/>
                      </a:cubicBezTo>
                      <a:cubicBezTo>
                        <a:pt x="334" y="566"/>
                        <a:pt x="296" y="593"/>
                        <a:pt x="290" y="648"/>
                      </a:cubicBezTo>
                      <a:cubicBezTo>
                        <a:pt x="470" y="973"/>
                        <a:pt x="470" y="973"/>
                        <a:pt x="470" y="973"/>
                      </a:cubicBezTo>
                      <a:cubicBezTo>
                        <a:pt x="519" y="997"/>
                        <a:pt x="563" y="978"/>
                        <a:pt x="610" y="960"/>
                      </a:cubicBezTo>
                      <a:cubicBezTo>
                        <a:pt x="654" y="943"/>
                        <a:pt x="697" y="925"/>
                        <a:pt x="775" y="921"/>
                      </a:cubicBezTo>
                      <a:cubicBezTo>
                        <a:pt x="827" y="918"/>
                        <a:pt x="880" y="924"/>
                        <a:pt x="932" y="927"/>
                      </a:cubicBezTo>
                      <a:cubicBezTo>
                        <a:pt x="1008" y="932"/>
                        <a:pt x="1082" y="931"/>
                        <a:pt x="1151" y="893"/>
                      </a:cubicBezTo>
                      <a:cubicBezTo>
                        <a:pt x="1354" y="780"/>
                        <a:pt x="1423" y="515"/>
                        <a:pt x="1304" y="301"/>
                      </a:cubicBezTo>
                      <a:close/>
                      <a:moveTo>
                        <a:pt x="1024" y="311"/>
                      </a:moveTo>
                      <a:cubicBezTo>
                        <a:pt x="1024" y="311"/>
                        <a:pt x="1024" y="311"/>
                        <a:pt x="1024" y="311"/>
                      </a:cubicBezTo>
                      <a:cubicBezTo>
                        <a:pt x="983" y="270"/>
                        <a:pt x="917" y="279"/>
                        <a:pt x="873" y="299"/>
                      </a:cubicBezTo>
                      <a:cubicBezTo>
                        <a:pt x="873" y="299"/>
                        <a:pt x="873" y="299"/>
                        <a:pt x="873" y="299"/>
                      </a:cubicBezTo>
                      <a:cubicBezTo>
                        <a:pt x="847" y="313"/>
                        <a:pt x="814" y="304"/>
                        <a:pt x="799" y="278"/>
                      </a:cubicBezTo>
                      <a:cubicBezTo>
                        <a:pt x="785" y="251"/>
                        <a:pt x="794" y="218"/>
                        <a:pt x="821" y="203"/>
                      </a:cubicBezTo>
                      <a:cubicBezTo>
                        <a:pt x="823" y="202"/>
                        <a:pt x="828" y="200"/>
                        <a:pt x="828" y="200"/>
                      </a:cubicBezTo>
                      <a:cubicBezTo>
                        <a:pt x="927" y="155"/>
                        <a:pt x="1035" y="168"/>
                        <a:pt x="1101" y="234"/>
                      </a:cubicBezTo>
                      <a:cubicBezTo>
                        <a:pt x="1101" y="234"/>
                        <a:pt x="1106" y="240"/>
                        <a:pt x="1108" y="244"/>
                      </a:cubicBezTo>
                      <a:cubicBezTo>
                        <a:pt x="1122" y="270"/>
                        <a:pt x="1113" y="303"/>
                        <a:pt x="1087" y="318"/>
                      </a:cubicBezTo>
                      <a:cubicBezTo>
                        <a:pt x="1066" y="329"/>
                        <a:pt x="1041" y="326"/>
                        <a:pt x="1024" y="311"/>
                      </a:cubicBezTo>
                      <a:close/>
                      <a:moveTo>
                        <a:pt x="14" y="967"/>
                      </a:moveTo>
                      <a:cubicBezTo>
                        <a:pt x="53" y="1037"/>
                        <a:pt x="53" y="1037"/>
                        <a:pt x="53" y="1037"/>
                      </a:cubicBezTo>
                      <a:cubicBezTo>
                        <a:pt x="67" y="1062"/>
                        <a:pt x="94" y="1074"/>
                        <a:pt x="115" y="1064"/>
                      </a:cubicBezTo>
                      <a:cubicBezTo>
                        <a:pt x="24" y="900"/>
                        <a:pt x="24" y="900"/>
                        <a:pt x="24" y="900"/>
                      </a:cubicBezTo>
                      <a:cubicBezTo>
                        <a:pt x="5" y="912"/>
                        <a:pt x="0" y="941"/>
                        <a:pt x="14" y="967"/>
                      </a:cubicBezTo>
                      <a:close/>
                      <a:moveTo>
                        <a:pt x="400" y="959"/>
                      </a:moveTo>
                      <a:cubicBezTo>
                        <a:pt x="265" y="714"/>
                        <a:pt x="265" y="714"/>
                        <a:pt x="265" y="714"/>
                      </a:cubicBezTo>
                      <a:cubicBezTo>
                        <a:pt x="248" y="685"/>
                        <a:pt x="215" y="672"/>
                        <a:pt x="190" y="686"/>
                      </a:cubicBezTo>
                      <a:cubicBezTo>
                        <a:pt x="166" y="699"/>
                        <a:pt x="159" y="734"/>
                        <a:pt x="175" y="764"/>
                      </a:cubicBezTo>
                      <a:cubicBezTo>
                        <a:pt x="310" y="1008"/>
                        <a:pt x="310" y="1008"/>
                        <a:pt x="310" y="1008"/>
                      </a:cubicBezTo>
                      <a:cubicBezTo>
                        <a:pt x="327" y="1038"/>
                        <a:pt x="360" y="1051"/>
                        <a:pt x="385" y="1037"/>
                      </a:cubicBezTo>
                      <a:cubicBezTo>
                        <a:pt x="410" y="1023"/>
                        <a:pt x="416" y="988"/>
                        <a:pt x="400" y="959"/>
                      </a:cubicBezTo>
                      <a:close/>
                      <a:moveTo>
                        <a:pt x="266" y="1026"/>
                      </a:moveTo>
                      <a:cubicBezTo>
                        <a:pt x="136" y="792"/>
                        <a:pt x="136" y="792"/>
                        <a:pt x="136" y="792"/>
                      </a:cubicBezTo>
                      <a:cubicBezTo>
                        <a:pt x="121" y="764"/>
                        <a:pt x="89" y="751"/>
                        <a:pt x="65" y="764"/>
                      </a:cubicBezTo>
                      <a:cubicBezTo>
                        <a:pt x="41" y="778"/>
                        <a:pt x="35" y="811"/>
                        <a:pt x="50" y="840"/>
                      </a:cubicBezTo>
                      <a:cubicBezTo>
                        <a:pt x="180" y="1074"/>
                        <a:pt x="180" y="1074"/>
                        <a:pt x="180" y="1074"/>
                      </a:cubicBezTo>
                      <a:cubicBezTo>
                        <a:pt x="196" y="1102"/>
                        <a:pt x="228" y="1114"/>
                        <a:pt x="251" y="1101"/>
                      </a:cubicBezTo>
                      <a:cubicBezTo>
                        <a:pt x="275" y="1088"/>
                        <a:pt x="282" y="1055"/>
                        <a:pt x="266" y="1026"/>
                      </a:cubicBezTo>
                      <a:close/>
                    </a:path>
                  </a:pathLst>
                </a:custGeom>
                <a:solidFill>
                  <a:srgbClr val="6F4D3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260" tIns="46630" rIns="93260" bIns="4663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363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82" algn="l" defTabSz="914363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63" algn="l" defTabSz="914363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45" algn="l" defTabSz="914363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727" algn="l" defTabSz="914363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909" algn="l" defTabSz="914363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90" algn="l" defTabSz="914363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272" algn="l" defTabSz="914363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454" algn="l" defTabSz="914363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1632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0" name="Rectangle 34"/>
              <p:cNvSpPr/>
              <p:nvPr/>
            </p:nvSpPr>
            <p:spPr bwMode="auto">
              <a:xfrm>
                <a:off x="1852184" y="3653274"/>
                <a:ext cx="4047039" cy="1398905"/>
              </a:xfrm>
              <a:prstGeom prst="rect">
                <a:avLst/>
              </a:prstGeom>
              <a:solidFill>
                <a:srgbClr val="D7DBDC"/>
              </a:solidFill>
              <a:ln w="381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5112" tIns="93260" rIns="95112" bIns="9326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kern="0" dirty="0">
                  <a:solidFill>
                    <a:srgbClr val="FFFFFF"/>
                  </a:solidFill>
                </a:endParaRPr>
              </a:p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kern="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3" name="Gruppieren 5"/>
            <p:cNvGrpSpPr/>
            <p:nvPr/>
          </p:nvGrpSpPr>
          <p:grpSpPr>
            <a:xfrm>
              <a:off x="6396348" y="3704666"/>
              <a:ext cx="5408881" cy="1416676"/>
              <a:chOff x="6616227" y="3616759"/>
              <a:chExt cx="5408881" cy="1416676"/>
            </a:xfrm>
          </p:grpSpPr>
          <p:sp>
            <p:nvSpPr>
              <p:cNvPr id="14" name="Rectangle 28"/>
              <p:cNvSpPr/>
              <p:nvPr/>
            </p:nvSpPr>
            <p:spPr bwMode="auto">
              <a:xfrm>
                <a:off x="6616227" y="3616759"/>
                <a:ext cx="1398906" cy="1416676"/>
              </a:xfrm>
              <a:prstGeom prst="rect">
                <a:avLst/>
              </a:prstGeom>
              <a:solidFill>
                <a:srgbClr val="E6B875"/>
              </a:solidFill>
              <a:ln w="254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6521" tIns="139891" rIns="186521" bIns="13989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134567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632" spc="-102" dirty="0">
                  <a:ln w="3175">
                    <a:noFill/>
                  </a:ln>
                  <a:solidFill>
                    <a:srgbClr val="505050"/>
                  </a:solidFill>
                  <a:cs typeface="Arial" charset="0"/>
                </a:endParaRPr>
              </a:p>
            </p:txBody>
          </p:sp>
          <p:sp>
            <p:nvSpPr>
              <p:cNvPr id="15" name="TextBox 29"/>
              <p:cNvSpPr txBox="1"/>
              <p:nvPr/>
            </p:nvSpPr>
            <p:spPr>
              <a:xfrm>
                <a:off x="6694148" y="3649861"/>
                <a:ext cx="1388370" cy="870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自拟课题</a:t>
                </a:r>
                <a:endParaRPr lang="en-US" sz="2400" dirty="0">
                  <a:solidFill>
                    <a:srgbClr val="FFFFFF"/>
                  </a:solidFill>
                </a:endParaRPr>
              </a:p>
            </p:txBody>
          </p:sp>
          <p:pic>
            <p:nvPicPr>
              <p:cNvPr id="16" name="Picture 30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79439" y="4356492"/>
                <a:ext cx="466302" cy="53014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7" name="Rectangle 31"/>
              <p:cNvSpPr/>
              <p:nvPr/>
            </p:nvSpPr>
            <p:spPr bwMode="auto">
              <a:xfrm>
                <a:off x="8014914" y="3616759"/>
                <a:ext cx="4010194" cy="1416676"/>
              </a:xfrm>
              <a:prstGeom prst="rect">
                <a:avLst/>
              </a:prstGeom>
              <a:solidFill>
                <a:srgbClr val="D7DBDC"/>
              </a:solidFill>
              <a:ln w="381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5112" tIns="93260" rIns="95112" bIns="9326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kern="0" dirty="0">
                  <a:solidFill>
                    <a:srgbClr val="FFFFFF"/>
                  </a:solidFill>
                </a:endParaRPr>
              </a:p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/>
                  <a:t>在学期第一周内提交课题任务书（格式和要求参照课题任务书），并通过指导老师审核。</a:t>
                </a:r>
                <a:endParaRPr lang="en-US" sz="1836" kern="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8" name="Gruppieren 7"/>
            <p:cNvGrpSpPr/>
            <p:nvPr/>
          </p:nvGrpSpPr>
          <p:grpSpPr>
            <a:xfrm>
              <a:off x="6333737" y="2076334"/>
              <a:ext cx="5466532" cy="1433179"/>
              <a:chOff x="6573513" y="1997280"/>
              <a:chExt cx="5466532" cy="1433179"/>
            </a:xfrm>
          </p:grpSpPr>
          <p:sp>
            <p:nvSpPr>
              <p:cNvPr id="19" name="Rectangle 25"/>
              <p:cNvSpPr/>
              <p:nvPr/>
            </p:nvSpPr>
            <p:spPr bwMode="auto">
              <a:xfrm>
                <a:off x="6630945" y="2031554"/>
                <a:ext cx="1398904" cy="1398905"/>
              </a:xfrm>
              <a:prstGeom prst="rect">
                <a:avLst/>
              </a:prstGeom>
              <a:solidFill>
                <a:srgbClr val="6F8683"/>
              </a:solidFill>
              <a:ln w="254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6521" tIns="139891" rIns="186521" bIns="13989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134567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 73"/>
              <p:cNvSpPr>
                <a:spLocks noChangeAspect="1" noEditPoints="1"/>
              </p:cNvSpPr>
              <p:nvPr/>
            </p:nvSpPr>
            <p:spPr bwMode="black">
              <a:xfrm>
                <a:off x="7330999" y="2735024"/>
                <a:ext cx="652822" cy="652822"/>
              </a:xfrm>
              <a:custGeom>
                <a:avLst/>
                <a:gdLst>
                  <a:gd name="T0" fmla="*/ 1799 w 2278"/>
                  <a:gd name="T1" fmla="*/ 879 h 2201"/>
                  <a:gd name="T2" fmla="*/ 1711 w 2278"/>
                  <a:gd name="T3" fmla="*/ 335 h 2201"/>
                  <a:gd name="T4" fmla="*/ 1363 w 2278"/>
                  <a:gd name="T5" fmla="*/ 315 h 2201"/>
                  <a:gd name="T6" fmla="*/ 1068 w 2278"/>
                  <a:gd name="T7" fmla="*/ 0 h 2201"/>
                  <a:gd name="T8" fmla="*/ 810 w 2278"/>
                  <a:gd name="T9" fmla="*/ 412 h 2201"/>
                  <a:gd name="T10" fmla="*/ 408 w 2278"/>
                  <a:gd name="T11" fmla="*/ 325 h 2201"/>
                  <a:gd name="T12" fmla="*/ 246 w 2278"/>
                  <a:gd name="T13" fmla="*/ 841 h 2201"/>
                  <a:gd name="T14" fmla="*/ 0 w 2278"/>
                  <a:gd name="T15" fmla="*/ 1138 h 2201"/>
                  <a:gd name="T16" fmla="*/ 338 w 2278"/>
                  <a:gd name="T17" fmla="*/ 1396 h 2201"/>
                  <a:gd name="T18" fmla="*/ 166 w 2278"/>
                  <a:gd name="T19" fmla="*/ 1885 h 2201"/>
                  <a:gd name="T20" fmla="*/ 769 w 2278"/>
                  <a:gd name="T21" fmla="*/ 1966 h 2201"/>
                  <a:gd name="T22" fmla="*/ 1053 w 2278"/>
                  <a:gd name="T23" fmla="*/ 2200 h 2201"/>
                  <a:gd name="T24" fmla="*/ 1081 w 2278"/>
                  <a:gd name="T25" fmla="*/ 2201 h 2201"/>
                  <a:gd name="T26" fmla="*/ 1184 w 2278"/>
                  <a:gd name="T27" fmla="*/ 1949 h 2201"/>
                  <a:gd name="T28" fmla="*/ 1666 w 2278"/>
                  <a:gd name="T29" fmla="*/ 1872 h 2201"/>
                  <a:gd name="T30" fmla="*/ 1874 w 2278"/>
                  <a:gd name="T31" fmla="*/ 1743 h 2201"/>
                  <a:gd name="T32" fmla="*/ 2060 w 2278"/>
                  <a:gd name="T33" fmla="*/ 1273 h 2201"/>
                  <a:gd name="T34" fmla="*/ 1940 w 2278"/>
                  <a:gd name="T35" fmla="*/ 1369 h 2201"/>
                  <a:gd name="T36" fmla="*/ 1385 w 2278"/>
                  <a:gd name="T37" fmla="*/ 1279 h 2201"/>
                  <a:gd name="T38" fmla="*/ 1837 w 2278"/>
                  <a:gd name="T39" fmla="*/ 1733 h 2201"/>
                  <a:gd name="T40" fmla="*/ 1302 w 2278"/>
                  <a:gd name="T41" fmla="*/ 1393 h 2201"/>
                  <a:gd name="T42" fmla="*/ 1433 w 2278"/>
                  <a:gd name="T43" fmla="*/ 1759 h 2201"/>
                  <a:gd name="T44" fmla="*/ 1193 w 2278"/>
                  <a:gd name="T45" fmla="*/ 1461 h 2201"/>
                  <a:gd name="T46" fmla="*/ 1156 w 2278"/>
                  <a:gd name="T47" fmla="*/ 1924 h 2201"/>
                  <a:gd name="T48" fmla="*/ 1053 w 2278"/>
                  <a:gd name="T49" fmla="*/ 1484 h 2201"/>
                  <a:gd name="T50" fmla="*/ 878 w 2278"/>
                  <a:gd name="T51" fmla="*/ 1857 h 2201"/>
                  <a:gd name="T52" fmla="*/ 804 w 2278"/>
                  <a:gd name="T53" fmla="*/ 1753 h 2201"/>
                  <a:gd name="T54" fmla="*/ 438 w 2278"/>
                  <a:gd name="T55" fmla="*/ 1789 h 2201"/>
                  <a:gd name="T56" fmla="*/ 369 w 2278"/>
                  <a:gd name="T57" fmla="*/ 1741 h 2201"/>
                  <a:gd name="T58" fmla="*/ 551 w 2278"/>
                  <a:gd name="T59" fmla="*/ 1362 h 2201"/>
                  <a:gd name="T60" fmla="*/ 447 w 2278"/>
                  <a:gd name="T61" fmla="*/ 1287 h 2201"/>
                  <a:gd name="T62" fmla="*/ 723 w 2278"/>
                  <a:gd name="T63" fmla="*/ 1153 h 2201"/>
                  <a:gd name="T64" fmla="*/ 253 w 2278"/>
                  <a:gd name="T65" fmla="*/ 1023 h 2201"/>
                  <a:gd name="T66" fmla="*/ 745 w 2278"/>
                  <a:gd name="T67" fmla="*/ 1014 h 2201"/>
                  <a:gd name="T68" fmla="*/ 386 w 2278"/>
                  <a:gd name="T69" fmla="*/ 736 h 2201"/>
                  <a:gd name="T70" fmla="*/ 813 w 2278"/>
                  <a:gd name="T71" fmla="*/ 904 h 2201"/>
                  <a:gd name="T72" fmla="*/ 701 w 2278"/>
                  <a:gd name="T73" fmla="*/ 530 h 2201"/>
                  <a:gd name="T74" fmla="*/ 944 w 2278"/>
                  <a:gd name="T75" fmla="*/ 815 h 2201"/>
                  <a:gd name="T76" fmla="*/ 996 w 2278"/>
                  <a:gd name="T77" fmla="*/ 287 h 2201"/>
                  <a:gd name="T78" fmla="*/ 1083 w 2278"/>
                  <a:gd name="T79" fmla="*/ 792 h 2201"/>
                  <a:gd name="T80" fmla="*/ 1253 w 2278"/>
                  <a:gd name="T81" fmla="*/ 424 h 2201"/>
                  <a:gd name="T82" fmla="*/ 1331 w 2278"/>
                  <a:gd name="T83" fmla="*/ 529 h 2201"/>
                  <a:gd name="T84" fmla="*/ 1558 w 2278"/>
                  <a:gd name="T85" fmla="*/ 488 h 2201"/>
                  <a:gd name="T86" fmla="*/ 1618 w 2278"/>
                  <a:gd name="T87" fmla="*/ 610 h 2201"/>
                  <a:gd name="T88" fmla="*/ 1586 w 2278"/>
                  <a:gd name="T89" fmla="*/ 914 h 2201"/>
                  <a:gd name="T90" fmla="*/ 1690 w 2278"/>
                  <a:gd name="T91" fmla="*/ 989 h 2201"/>
                  <a:gd name="T92" fmla="*/ 1414 w 2278"/>
                  <a:gd name="T93" fmla="*/ 1123 h 2201"/>
                  <a:gd name="T94" fmla="*/ 2028 w 2278"/>
                  <a:gd name="T95" fmla="*/ 1253 h 2201"/>
                  <a:gd name="T96" fmla="*/ 1292 w 2278"/>
                  <a:gd name="T97" fmla="*/ 936 h 2201"/>
                  <a:gd name="T98" fmla="*/ 1083 w 2278"/>
                  <a:gd name="T99" fmla="*/ 837 h 2201"/>
                  <a:gd name="T100" fmla="*/ 945 w 2278"/>
                  <a:gd name="T101" fmla="*/ 863 h 2201"/>
                  <a:gd name="T102" fmla="*/ 787 w 2278"/>
                  <a:gd name="T103" fmla="*/ 1031 h 2201"/>
                  <a:gd name="T104" fmla="*/ 787 w 2278"/>
                  <a:gd name="T105" fmla="*/ 1245 h 2201"/>
                  <a:gd name="T106" fmla="*/ 945 w 2278"/>
                  <a:gd name="T107" fmla="*/ 1412 h 2201"/>
                  <a:gd name="T108" fmla="*/ 1083 w 2278"/>
                  <a:gd name="T109" fmla="*/ 1439 h 2201"/>
                  <a:gd name="T110" fmla="*/ 1292 w 2278"/>
                  <a:gd name="T111" fmla="*/ 1340 h 2201"/>
                  <a:gd name="T112" fmla="*/ 1370 w 2278"/>
                  <a:gd name="T113" fmla="*/ 1138 h 2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278" h="2201">
                    <a:moveTo>
                      <a:pt x="2125" y="983"/>
                    </a:moveTo>
                    <a:cubicBezTo>
                      <a:pt x="2074" y="983"/>
                      <a:pt x="2030" y="1007"/>
                      <a:pt x="2002" y="1045"/>
                    </a:cubicBezTo>
                    <a:cubicBezTo>
                      <a:pt x="1787" y="929"/>
                      <a:pt x="1787" y="929"/>
                      <a:pt x="1787" y="929"/>
                    </a:cubicBezTo>
                    <a:cubicBezTo>
                      <a:pt x="1795" y="914"/>
                      <a:pt x="1799" y="897"/>
                      <a:pt x="1799" y="879"/>
                    </a:cubicBezTo>
                    <a:cubicBezTo>
                      <a:pt x="1799" y="828"/>
                      <a:pt x="1764" y="785"/>
                      <a:pt x="1715" y="773"/>
                    </a:cubicBezTo>
                    <a:cubicBezTo>
                      <a:pt x="1729" y="640"/>
                      <a:pt x="1729" y="640"/>
                      <a:pt x="1729" y="640"/>
                    </a:cubicBezTo>
                    <a:cubicBezTo>
                      <a:pt x="1805" y="630"/>
                      <a:pt x="1863" y="566"/>
                      <a:pt x="1863" y="488"/>
                    </a:cubicBezTo>
                    <a:cubicBezTo>
                      <a:pt x="1863" y="404"/>
                      <a:pt x="1795" y="335"/>
                      <a:pt x="1711" y="335"/>
                    </a:cubicBezTo>
                    <a:cubicBezTo>
                      <a:pt x="1645" y="335"/>
                      <a:pt x="1589" y="377"/>
                      <a:pt x="1567" y="435"/>
                    </a:cubicBezTo>
                    <a:cubicBezTo>
                      <a:pt x="1472" y="427"/>
                      <a:pt x="1472" y="427"/>
                      <a:pt x="1472" y="427"/>
                    </a:cubicBezTo>
                    <a:cubicBezTo>
                      <a:pt x="1472" y="426"/>
                      <a:pt x="1472" y="425"/>
                      <a:pt x="1472" y="424"/>
                    </a:cubicBezTo>
                    <a:cubicBezTo>
                      <a:pt x="1472" y="364"/>
                      <a:pt x="1423" y="315"/>
                      <a:pt x="1363" y="315"/>
                    </a:cubicBezTo>
                    <a:cubicBezTo>
                      <a:pt x="1334" y="315"/>
                      <a:pt x="1309" y="326"/>
                      <a:pt x="1289" y="343"/>
                    </a:cubicBezTo>
                    <a:cubicBezTo>
                      <a:pt x="1187" y="250"/>
                      <a:pt x="1187" y="250"/>
                      <a:pt x="1187" y="250"/>
                    </a:cubicBezTo>
                    <a:cubicBezTo>
                      <a:pt x="1208" y="223"/>
                      <a:pt x="1221" y="190"/>
                      <a:pt x="1221" y="153"/>
                    </a:cubicBezTo>
                    <a:cubicBezTo>
                      <a:pt x="1221" y="69"/>
                      <a:pt x="1153" y="0"/>
                      <a:pt x="1068" y="0"/>
                    </a:cubicBezTo>
                    <a:cubicBezTo>
                      <a:pt x="984" y="0"/>
                      <a:pt x="916" y="69"/>
                      <a:pt x="916" y="153"/>
                    </a:cubicBezTo>
                    <a:cubicBezTo>
                      <a:pt x="916" y="197"/>
                      <a:pt x="935" y="237"/>
                      <a:pt x="965" y="265"/>
                    </a:cubicBezTo>
                    <a:cubicBezTo>
                      <a:pt x="856" y="422"/>
                      <a:pt x="856" y="422"/>
                      <a:pt x="856" y="422"/>
                    </a:cubicBezTo>
                    <a:cubicBezTo>
                      <a:pt x="842" y="416"/>
                      <a:pt x="827" y="412"/>
                      <a:pt x="810" y="412"/>
                    </a:cubicBezTo>
                    <a:cubicBezTo>
                      <a:pt x="760" y="412"/>
                      <a:pt x="717" y="446"/>
                      <a:pt x="705" y="493"/>
                    </a:cubicBezTo>
                    <a:cubicBezTo>
                      <a:pt x="561" y="480"/>
                      <a:pt x="561" y="480"/>
                      <a:pt x="561" y="480"/>
                    </a:cubicBezTo>
                    <a:cubicBezTo>
                      <a:pt x="561" y="480"/>
                      <a:pt x="561" y="479"/>
                      <a:pt x="561" y="478"/>
                    </a:cubicBezTo>
                    <a:cubicBezTo>
                      <a:pt x="561" y="394"/>
                      <a:pt x="493" y="325"/>
                      <a:pt x="408" y="325"/>
                    </a:cubicBezTo>
                    <a:cubicBezTo>
                      <a:pt x="324" y="325"/>
                      <a:pt x="256" y="394"/>
                      <a:pt x="256" y="478"/>
                    </a:cubicBezTo>
                    <a:cubicBezTo>
                      <a:pt x="256" y="546"/>
                      <a:pt x="300" y="603"/>
                      <a:pt x="362" y="623"/>
                    </a:cubicBezTo>
                    <a:cubicBezTo>
                      <a:pt x="348" y="732"/>
                      <a:pt x="348" y="732"/>
                      <a:pt x="348" y="732"/>
                    </a:cubicBezTo>
                    <a:cubicBezTo>
                      <a:pt x="291" y="736"/>
                      <a:pt x="246" y="783"/>
                      <a:pt x="246" y="841"/>
                    </a:cubicBezTo>
                    <a:cubicBezTo>
                      <a:pt x="246" y="873"/>
                      <a:pt x="259" y="901"/>
                      <a:pt x="281" y="921"/>
                    </a:cubicBezTo>
                    <a:cubicBezTo>
                      <a:pt x="221" y="1002"/>
                      <a:pt x="221" y="1002"/>
                      <a:pt x="221" y="1002"/>
                    </a:cubicBezTo>
                    <a:cubicBezTo>
                      <a:pt x="201" y="991"/>
                      <a:pt x="177" y="985"/>
                      <a:pt x="153" y="985"/>
                    </a:cubicBezTo>
                    <a:cubicBezTo>
                      <a:pt x="68" y="985"/>
                      <a:pt x="0" y="1054"/>
                      <a:pt x="0" y="1138"/>
                    </a:cubicBezTo>
                    <a:cubicBezTo>
                      <a:pt x="0" y="1222"/>
                      <a:pt x="68" y="1291"/>
                      <a:pt x="153" y="1291"/>
                    </a:cubicBezTo>
                    <a:cubicBezTo>
                      <a:pt x="190" y="1291"/>
                      <a:pt x="225" y="1277"/>
                      <a:pt x="251" y="1254"/>
                    </a:cubicBezTo>
                    <a:cubicBezTo>
                      <a:pt x="354" y="1339"/>
                      <a:pt x="354" y="1339"/>
                      <a:pt x="354" y="1339"/>
                    </a:cubicBezTo>
                    <a:cubicBezTo>
                      <a:pt x="344" y="1356"/>
                      <a:pt x="338" y="1375"/>
                      <a:pt x="338" y="1396"/>
                    </a:cubicBezTo>
                    <a:cubicBezTo>
                      <a:pt x="338" y="1436"/>
                      <a:pt x="359" y="1471"/>
                      <a:pt x="392" y="1490"/>
                    </a:cubicBezTo>
                    <a:cubicBezTo>
                      <a:pt x="332" y="1733"/>
                      <a:pt x="332" y="1733"/>
                      <a:pt x="332" y="1733"/>
                    </a:cubicBezTo>
                    <a:cubicBezTo>
                      <a:pt x="328" y="1732"/>
                      <a:pt x="323" y="1732"/>
                      <a:pt x="319" y="1732"/>
                    </a:cubicBezTo>
                    <a:cubicBezTo>
                      <a:pt x="235" y="1732"/>
                      <a:pt x="166" y="1800"/>
                      <a:pt x="166" y="1885"/>
                    </a:cubicBezTo>
                    <a:cubicBezTo>
                      <a:pt x="166" y="1969"/>
                      <a:pt x="235" y="2038"/>
                      <a:pt x="319" y="2038"/>
                    </a:cubicBezTo>
                    <a:cubicBezTo>
                      <a:pt x="399" y="2038"/>
                      <a:pt x="464" y="1977"/>
                      <a:pt x="471" y="1899"/>
                    </a:cubicBezTo>
                    <a:cubicBezTo>
                      <a:pt x="664" y="1884"/>
                      <a:pt x="664" y="1884"/>
                      <a:pt x="664" y="1884"/>
                    </a:cubicBezTo>
                    <a:cubicBezTo>
                      <a:pt x="676" y="1931"/>
                      <a:pt x="718" y="1966"/>
                      <a:pt x="769" y="1966"/>
                    </a:cubicBezTo>
                    <a:cubicBezTo>
                      <a:pt x="802" y="1966"/>
                      <a:pt x="832" y="1951"/>
                      <a:pt x="852" y="1928"/>
                    </a:cubicBezTo>
                    <a:cubicBezTo>
                      <a:pt x="931" y="1982"/>
                      <a:pt x="931" y="1982"/>
                      <a:pt x="931" y="1982"/>
                    </a:cubicBezTo>
                    <a:cubicBezTo>
                      <a:pt x="921" y="2002"/>
                      <a:pt x="916" y="2024"/>
                      <a:pt x="916" y="2049"/>
                    </a:cubicBezTo>
                    <a:cubicBezTo>
                      <a:pt x="916" y="2128"/>
                      <a:pt x="976" y="2193"/>
                      <a:pt x="1053" y="2200"/>
                    </a:cubicBezTo>
                    <a:cubicBezTo>
                      <a:pt x="1053" y="2201"/>
                      <a:pt x="1053" y="2201"/>
                      <a:pt x="1053" y="2201"/>
                    </a:cubicBezTo>
                    <a:cubicBezTo>
                      <a:pt x="1056" y="2201"/>
                      <a:pt x="1056" y="2201"/>
                      <a:pt x="1056" y="2201"/>
                    </a:cubicBezTo>
                    <a:cubicBezTo>
                      <a:pt x="1060" y="2201"/>
                      <a:pt x="1064" y="2201"/>
                      <a:pt x="1068" y="2201"/>
                    </a:cubicBezTo>
                    <a:cubicBezTo>
                      <a:pt x="1073" y="2201"/>
                      <a:pt x="1077" y="2201"/>
                      <a:pt x="1081" y="2201"/>
                    </a:cubicBezTo>
                    <a:cubicBezTo>
                      <a:pt x="1083" y="2201"/>
                      <a:pt x="1083" y="2201"/>
                      <a:pt x="1083" y="2201"/>
                    </a:cubicBezTo>
                    <a:cubicBezTo>
                      <a:pt x="1083" y="2201"/>
                      <a:pt x="1083" y="2201"/>
                      <a:pt x="1083" y="2201"/>
                    </a:cubicBezTo>
                    <a:cubicBezTo>
                      <a:pt x="1161" y="2193"/>
                      <a:pt x="1221" y="2128"/>
                      <a:pt x="1221" y="2049"/>
                    </a:cubicBezTo>
                    <a:cubicBezTo>
                      <a:pt x="1221" y="2011"/>
                      <a:pt x="1207" y="1976"/>
                      <a:pt x="1184" y="1949"/>
                    </a:cubicBezTo>
                    <a:cubicBezTo>
                      <a:pt x="1268" y="1853"/>
                      <a:pt x="1268" y="1853"/>
                      <a:pt x="1268" y="1853"/>
                    </a:cubicBezTo>
                    <a:cubicBezTo>
                      <a:pt x="1285" y="1863"/>
                      <a:pt x="1304" y="1869"/>
                      <a:pt x="1324" y="1869"/>
                    </a:cubicBezTo>
                    <a:cubicBezTo>
                      <a:pt x="1364" y="1869"/>
                      <a:pt x="1399" y="1847"/>
                      <a:pt x="1418" y="1815"/>
                    </a:cubicBezTo>
                    <a:cubicBezTo>
                      <a:pt x="1666" y="1872"/>
                      <a:pt x="1666" y="1872"/>
                      <a:pt x="1666" y="1872"/>
                    </a:cubicBezTo>
                    <a:cubicBezTo>
                      <a:pt x="1665" y="1876"/>
                      <a:pt x="1665" y="1880"/>
                      <a:pt x="1665" y="1885"/>
                    </a:cubicBezTo>
                    <a:cubicBezTo>
                      <a:pt x="1665" y="1969"/>
                      <a:pt x="1734" y="2038"/>
                      <a:pt x="1818" y="2038"/>
                    </a:cubicBezTo>
                    <a:cubicBezTo>
                      <a:pt x="1902" y="2038"/>
                      <a:pt x="1971" y="1969"/>
                      <a:pt x="1971" y="1885"/>
                    </a:cubicBezTo>
                    <a:cubicBezTo>
                      <a:pt x="1971" y="1820"/>
                      <a:pt x="1931" y="1765"/>
                      <a:pt x="1874" y="1743"/>
                    </a:cubicBezTo>
                    <a:cubicBezTo>
                      <a:pt x="1893" y="1572"/>
                      <a:pt x="1893" y="1572"/>
                      <a:pt x="1893" y="1572"/>
                    </a:cubicBezTo>
                    <a:cubicBezTo>
                      <a:pt x="1949" y="1567"/>
                      <a:pt x="1994" y="1520"/>
                      <a:pt x="1994" y="1463"/>
                    </a:cubicBezTo>
                    <a:cubicBezTo>
                      <a:pt x="1994" y="1436"/>
                      <a:pt x="1984" y="1412"/>
                      <a:pt x="1969" y="1393"/>
                    </a:cubicBezTo>
                    <a:cubicBezTo>
                      <a:pt x="2060" y="1273"/>
                      <a:pt x="2060" y="1273"/>
                      <a:pt x="2060" y="1273"/>
                    </a:cubicBezTo>
                    <a:cubicBezTo>
                      <a:pt x="2080" y="1283"/>
                      <a:pt x="2102" y="1288"/>
                      <a:pt x="2125" y="1288"/>
                    </a:cubicBezTo>
                    <a:cubicBezTo>
                      <a:pt x="2209" y="1288"/>
                      <a:pt x="2278" y="1220"/>
                      <a:pt x="2278" y="1135"/>
                    </a:cubicBezTo>
                    <a:cubicBezTo>
                      <a:pt x="2278" y="1051"/>
                      <a:pt x="2209" y="983"/>
                      <a:pt x="2125" y="983"/>
                    </a:cubicBezTo>
                    <a:close/>
                    <a:moveTo>
                      <a:pt x="1940" y="1369"/>
                    </a:moveTo>
                    <a:cubicBezTo>
                      <a:pt x="1924" y="1359"/>
                      <a:pt x="1905" y="1353"/>
                      <a:pt x="1884" y="1353"/>
                    </a:cubicBezTo>
                    <a:cubicBezTo>
                      <a:pt x="1838" y="1353"/>
                      <a:pt x="1798" y="1383"/>
                      <a:pt x="1782" y="1424"/>
                    </a:cubicBezTo>
                    <a:cubicBezTo>
                      <a:pt x="1392" y="1262"/>
                      <a:pt x="1392" y="1262"/>
                      <a:pt x="1392" y="1262"/>
                    </a:cubicBezTo>
                    <a:cubicBezTo>
                      <a:pt x="1390" y="1268"/>
                      <a:pt x="1387" y="1273"/>
                      <a:pt x="1385" y="1279"/>
                    </a:cubicBezTo>
                    <a:cubicBezTo>
                      <a:pt x="1777" y="1441"/>
                      <a:pt x="1777" y="1441"/>
                      <a:pt x="1777" y="1441"/>
                    </a:cubicBezTo>
                    <a:cubicBezTo>
                      <a:pt x="1776" y="1448"/>
                      <a:pt x="1775" y="1455"/>
                      <a:pt x="1775" y="1463"/>
                    </a:cubicBezTo>
                    <a:cubicBezTo>
                      <a:pt x="1775" y="1513"/>
                      <a:pt x="1809" y="1555"/>
                      <a:pt x="1855" y="1568"/>
                    </a:cubicBezTo>
                    <a:cubicBezTo>
                      <a:pt x="1837" y="1733"/>
                      <a:pt x="1837" y="1733"/>
                      <a:pt x="1837" y="1733"/>
                    </a:cubicBezTo>
                    <a:cubicBezTo>
                      <a:pt x="1831" y="1733"/>
                      <a:pt x="1825" y="1732"/>
                      <a:pt x="1818" y="1732"/>
                    </a:cubicBezTo>
                    <a:cubicBezTo>
                      <a:pt x="1781" y="1732"/>
                      <a:pt x="1746" y="1746"/>
                      <a:pt x="1720" y="1768"/>
                    </a:cubicBezTo>
                    <a:cubicBezTo>
                      <a:pt x="1324" y="1372"/>
                      <a:pt x="1324" y="1372"/>
                      <a:pt x="1324" y="1372"/>
                    </a:cubicBezTo>
                    <a:cubicBezTo>
                      <a:pt x="1317" y="1379"/>
                      <a:pt x="1310" y="1386"/>
                      <a:pt x="1302" y="1393"/>
                    </a:cubicBezTo>
                    <a:cubicBezTo>
                      <a:pt x="1699" y="1789"/>
                      <a:pt x="1699" y="1789"/>
                      <a:pt x="1699" y="1789"/>
                    </a:cubicBezTo>
                    <a:cubicBezTo>
                      <a:pt x="1688" y="1803"/>
                      <a:pt x="1679" y="1818"/>
                      <a:pt x="1674" y="1835"/>
                    </a:cubicBezTo>
                    <a:cubicBezTo>
                      <a:pt x="1432" y="1779"/>
                      <a:pt x="1432" y="1779"/>
                      <a:pt x="1432" y="1779"/>
                    </a:cubicBezTo>
                    <a:cubicBezTo>
                      <a:pt x="1433" y="1773"/>
                      <a:pt x="1433" y="1766"/>
                      <a:pt x="1433" y="1759"/>
                    </a:cubicBezTo>
                    <a:cubicBezTo>
                      <a:pt x="1433" y="1699"/>
                      <a:pt x="1385" y="1650"/>
                      <a:pt x="1324" y="1650"/>
                    </a:cubicBezTo>
                    <a:cubicBezTo>
                      <a:pt x="1313" y="1650"/>
                      <a:pt x="1302" y="1652"/>
                      <a:pt x="1292" y="1655"/>
                    </a:cubicBezTo>
                    <a:cubicBezTo>
                      <a:pt x="1209" y="1454"/>
                      <a:pt x="1209" y="1454"/>
                      <a:pt x="1209" y="1454"/>
                    </a:cubicBezTo>
                    <a:cubicBezTo>
                      <a:pt x="1204" y="1457"/>
                      <a:pt x="1198" y="1459"/>
                      <a:pt x="1193" y="1461"/>
                    </a:cubicBezTo>
                    <a:cubicBezTo>
                      <a:pt x="1276" y="1662"/>
                      <a:pt x="1276" y="1662"/>
                      <a:pt x="1276" y="1662"/>
                    </a:cubicBezTo>
                    <a:cubicBezTo>
                      <a:pt x="1240" y="1680"/>
                      <a:pt x="1215" y="1717"/>
                      <a:pt x="1215" y="1759"/>
                    </a:cubicBezTo>
                    <a:cubicBezTo>
                      <a:pt x="1215" y="1786"/>
                      <a:pt x="1224" y="1810"/>
                      <a:pt x="1240" y="1828"/>
                    </a:cubicBezTo>
                    <a:cubicBezTo>
                      <a:pt x="1156" y="1924"/>
                      <a:pt x="1156" y="1924"/>
                      <a:pt x="1156" y="1924"/>
                    </a:cubicBezTo>
                    <a:cubicBezTo>
                      <a:pt x="1135" y="1909"/>
                      <a:pt x="1110" y="1899"/>
                      <a:pt x="1083" y="1897"/>
                    </a:cubicBezTo>
                    <a:cubicBezTo>
                      <a:pt x="1083" y="1484"/>
                      <a:pt x="1083" y="1484"/>
                      <a:pt x="1083" y="1484"/>
                    </a:cubicBezTo>
                    <a:cubicBezTo>
                      <a:pt x="1078" y="1484"/>
                      <a:pt x="1073" y="1484"/>
                      <a:pt x="1068" y="1484"/>
                    </a:cubicBezTo>
                    <a:cubicBezTo>
                      <a:pt x="1063" y="1484"/>
                      <a:pt x="1058" y="1484"/>
                      <a:pt x="1053" y="1484"/>
                    </a:cubicBezTo>
                    <a:cubicBezTo>
                      <a:pt x="1053" y="1897"/>
                      <a:pt x="1053" y="1897"/>
                      <a:pt x="1053" y="1897"/>
                    </a:cubicBezTo>
                    <a:cubicBezTo>
                      <a:pt x="1013" y="1901"/>
                      <a:pt x="977" y="1920"/>
                      <a:pt x="952" y="1950"/>
                    </a:cubicBezTo>
                    <a:cubicBezTo>
                      <a:pt x="871" y="1895"/>
                      <a:pt x="871" y="1895"/>
                      <a:pt x="871" y="1895"/>
                    </a:cubicBezTo>
                    <a:cubicBezTo>
                      <a:pt x="876" y="1883"/>
                      <a:pt x="878" y="1870"/>
                      <a:pt x="878" y="1857"/>
                    </a:cubicBezTo>
                    <a:cubicBezTo>
                      <a:pt x="878" y="1815"/>
                      <a:pt x="855" y="1779"/>
                      <a:pt x="820" y="1760"/>
                    </a:cubicBezTo>
                    <a:cubicBezTo>
                      <a:pt x="944" y="1461"/>
                      <a:pt x="944" y="1461"/>
                      <a:pt x="944" y="1461"/>
                    </a:cubicBezTo>
                    <a:cubicBezTo>
                      <a:pt x="939" y="1459"/>
                      <a:pt x="933" y="1457"/>
                      <a:pt x="928" y="1454"/>
                    </a:cubicBezTo>
                    <a:cubicBezTo>
                      <a:pt x="804" y="1753"/>
                      <a:pt x="804" y="1753"/>
                      <a:pt x="804" y="1753"/>
                    </a:cubicBezTo>
                    <a:cubicBezTo>
                      <a:pt x="793" y="1749"/>
                      <a:pt x="781" y="1747"/>
                      <a:pt x="769" y="1747"/>
                    </a:cubicBezTo>
                    <a:cubicBezTo>
                      <a:pt x="712" y="1747"/>
                      <a:pt x="666" y="1791"/>
                      <a:pt x="660" y="1846"/>
                    </a:cubicBezTo>
                    <a:cubicBezTo>
                      <a:pt x="470" y="1861"/>
                      <a:pt x="470" y="1861"/>
                      <a:pt x="470" y="1861"/>
                    </a:cubicBezTo>
                    <a:cubicBezTo>
                      <a:pt x="466" y="1834"/>
                      <a:pt x="454" y="1810"/>
                      <a:pt x="438" y="1789"/>
                    </a:cubicBezTo>
                    <a:cubicBezTo>
                      <a:pt x="835" y="1393"/>
                      <a:pt x="835" y="1393"/>
                      <a:pt x="835" y="1393"/>
                    </a:cubicBezTo>
                    <a:cubicBezTo>
                      <a:pt x="827" y="1386"/>
                      <a:pt x="820" y="1379"/>
                      <a:pt x="813" y="1372"/>
                    </a:cubicBezTo>
                    <a:cubicBezTo>
                      <a:pt x="417" y="1768"/>
                      <a:pt x="417" y="1768"/>
                      <a:pt x="417" y="1768"/>
                    </a:cubicBezTo>
                    <a:cubicBezTo>
                      <a:pt x="403" y="1756"/>
                      <a:pt x="387" y="1747"/>
                      <a:pt x="369" y="1741"/>
                    </a:cubicBezTo>
                    <a:cubicBezTo>
                      <a:pt x="428" y="1504"/>
                      <a:pt x="428" y="1504"/>
                      <a:pt x="428" y="1504"/>
                    </a:cubicBezTo>
                    <a:cubicBezTo>
                      <a:pt x="434" y="1505"/>
                      <a:pt x="440" y="1505"/>
                      <a:pt x="447" y="1505"/>
                    </a:cubicBezTo>
                    <a:cubicBezTo>
                      <a:pt x="507" y="1505"/>
                      <a:pt x="556" y="1457"/>
                      <a:pt x="556" y="1396"/>
                    </a:cubicBezTo>
                    <a:cubicBezTo>
                      <a:pt x="556" y="1384"/>
                      <a:pt x="554" y="1373"/>
                      <a:pt x="551" y="1362"/>
                    </a:cubicBezTo>
                    <a:cubicBezTo>
                      <a:pt x="752" y="1279"/>
                      <a:pt x="752" y="1279"/>
                      <a:pt x="752" y="1279"/>
                    </a:cubicBezTo>
                    <a:cubicBezTo>
                      <a:pt x="750" y="1273"/>
                      <a:pt x="747" y="1268"/>
                      <a:pt x="745" y="1262"/>
                    </a:cubicBezTo>
                    <a:cubicBezTo>
                      <a:pt x="544" y="1345"/>
                      <a:pt x="544" y="1345"/>
                      <a:pt x="544" y="1345"/>
                    </a:cubicBezTo>
                    <a:cubicBezTo>
                      <a:pt x="525" y="1311"/>
                      <a:pt x="489" y="1287"/>
                      <a:pt x="447" y="1287"/>
                    </a:cubicBezTo>
                    <a:cubicBezTo>
                      <a:pt x="421" y="1287"/>
                      <a:pt x="397" y="1296"/>
                      <a:pt x="379" y="1311"/>
                    </a:cubicBezTo>
                    <a:cubicBezTo>
                      <a:pt x="277" y="1226"/>
                      <a:pt x="277" y="1226"/>
                      <a:pt x="277" y="1226"/>
                    </a:cubicBezTo>
                    <a:cubicBezTo>
                      <a:pt x="292" y="1205"/>
                      <a:pt x="302" y="1180"/>
                      <a:pt x="305" y="1153"/>
                    </a:cubicBezTo>
                    <a:cubicBezTo>
                      <a:pt x="723" y="1153"/>
                      <a:pt x="723" y="1153"/>
                      <a:pt x="723" y="1153"/>
                    </a:cubicBezTo>
                    <a:cubicBezTo>
                      <a:pt x="722" y="1148"/>
                      <a:pt x="722" y="1143"/>
                      <a:pt x="722" y="1138"/>
                    </a:cubicBezTo>
                    <a:cubicBezTo>
                      <a:pt x="722" y="1133"/>
                      <a:pt x="722" y="1128"/>
                      <a:pt x="723" y="1123"/>
                    </a:cubicBezTo>
                    <a:cubicBezTo>
                      <a:pt x="305" y="1123"/>
                      <a:pt x="305" y="1123"/>
                      <a:pt x="305" y="1123"/>
                    </a:cubicBezTo>
                    <a:cubicBezTo>
                      <a:pt x="301" y="1083"/>
                      <a:pt x="281" y="1048"/>
                      <a:pt x="253" y="1023"/>
                    </a:cubicBezTo>
                    <a:cubicBezTo>
                      <a:pt x="312" y="942"/>
                      <a:pt x="312" y="942"/>
                      <a:pt x="312" y="942"/>
                    </a:cubicBezTo>
                    <a:cubicBezTo>
                      <a:pt x="325" y="947"/>
                      <a:pt x="340" y="950"/>
                      <a:pt x="355" y="950"/>
                    </a:cubicBezTo>
                    <a:cubicBezTo>
                      <a:pt x="397" y="950"/>
                      <a:pt x="433" y="927"/>
                      <a:pt x="451" y="892"/>
                    </a:cubicBezTo>
                    <a:cubicBezTo>
                      <a:pt x="745" y="1014"/>
                      <a:pt x="745" y="1014"/>
                      <a:pt x="745" y="1014"/>
                    </a:cubicBezTo>
                    <a:cubicBezTo>
                      <a:pt x="747" y="1008"/>
                      <a:pt x="750" y="1003"/>
                      <a:pt x="752" y="997"/>
                    </a:cubicBezTo>
                    <a:cubicBezTo>
                      <a:pt x="458" y="875"/>
                      <a:pt x="458" y="875"/>
                      <a:pt x="458" y="875"/>
                    </a:cubicBezTo>
                    <a:cubicBezTo>
                      <a:pt x="462" y="865"/>
                      <a:pt x="464" y="853"/>
                      <a:pt x="464" y="841"/>
                    </a:cubicBezTo>
                    <a:cubicBezTo>
                      <a:pt x="464" y="792"/>
                      <a:pt x="431" y="750"/>
                      <a:pt x="386" y="736"/>
                    </a:cubicBezTo>
                    <a:cubicBezTo>
                      <a:pt x="399" y="630"/>
                      <a:pt x="399" y="630"/>
                      <a:pt x="399" y="630"/>
                    </a:cubicBezTo>
                    <a:cubicBezTo>
                      <a:pt x="402" y="630"/>
                      <a:pt x="405" y="631"/>
                      <a:pt x="408" y="631"/>
                    </a:cubicBezTo>
                    <a:cubicBezTo>
                      <a:pt x="445" y="631"/>
                      <a:pt x="479" y="618"/>
                      <a:pt x="505" y="596"/>
                    </a:cubicBezTo>
                    <a:cubicBezTo>
                      <a:pt x="813" y="904"/>
                      <a:pt x="813" y="904"/>
                      <a:pt x="813" y="904"/>
                    </a:cubicBezTo>
                    <a:cubicBezTo>
                      <a:pt x="820" y="897"/>
                      <a:pt x="827" y="889"/>
                      <a:pt x="835" y="883"/>
                    </a:cubicBezTo>
                    <a:cubicBezTo>
                      <a:pt x="527" y="575"/>
                      <a:pt x="527" y="575"/>
                      <a:pt x="527" y="575"/>
                    </a:cubicBezTo>
                    <a:cubicBezTo>
                      <a:pt x="540" y="558"/>
                      <a:pt x="550" y="539"/>
                      <a:pt x="556" y="518"/>
                    </a:cubicBezTo>
                    <a:cubicBezTo>
                      <a:pt x="701" y="530"/>
                      <a:pt x="701" y="530"/>
                      <a:pt x="701" y="530"/>
                    </a:cubicBezTo>
                    <a:cubicBezTo>
                      <a:pt x="706" y="587"/>
                      <a:pt x="753" y="631"/>
                      <a:pt x="810" y="631"/>
                    </a:cubicBezTo>
                    <a:cubicBezTo>
                      <a:pt x="823" y="631"/>
                      <a:pt x="835" y="628"/>
                      <a:pt x="846" y="624"/>
                    </a:cubicBezTo>
                    <a:cubicBezTo>
                      <a:pt x="928" y="822"/>
                      <a:pt x="928" y="822"/>
                      <a:pt x="928" y="822"/>
                    </a:cubicBezTo>
                    <a:cubicBezTo>
                      <a:pt x="933" y="819"/>
                      <a:pt x="939" y="817"/>
                      <a:pt x="944" y="815"/>
                    </a:cubicBezTo>
                    <a:cubicBezTo>
                      <a:pt x="863" y="617"/>
                      <a:pt x="863" y="617"/>
                      <a:pt x="863" y="617"/>
                    </a:cubicBezTo>
                    <a:cubicBezTo>
                      <a:pt x="896" y="599"/>
                      <a:pt x="919" y="563"/>
                      <a:pt x="919" y="521"/>
                    </a:cubicBezTo>
                    <a:cubicBezTo>
                      <a:pt x="919" y="491"/>
                      <a:pt x="907" y="464"/>
                      <a:pt x="887" y="444"/>
                    </a:cubicBezTo>
                    <a:cubicBezTo>
                      <a:pt x="996" y="287"/>
                      <a:pt x="996" y="287"/>
                      <a:pt x="996" y="287"/>
                    </a:cubicBezTo>
                    <a:cubicBezTo>
                      <a:pt x="1013" y="297"/>
                      <a:pt x="1033" y="303"/>
                      <a:pt x="1053" y="305"/>
                    </a:cubicBezTo>
                    <a:cubicBezTo>
                      <a:pt x="1053" y="792"/>
                      <a:pt x="1053" y="792"/>
                      <a:pt x="1053" y="792"/>
                    </a:cubicBezTo>
                    <a:cubicBezTo>
                      <a:pt x="1058" y="792"/>
                      <a:pt x="1063" y="792"/>
                      <a:pt x="1068" y="792"/>
                    </a:cubicBezTo>
                    <a:cubicBezTo>
                      <a:pt x="1073" y="792"/>
                      <a:pt x="1078" y="792"/>
                      <a:pt x="1083" y="792"/>
                    </a:cubicBezTo>
                    <a:cubicBezTo>
                      <a:pt x="1083" y="305"/>
                      <a:pt x="1083" y="305"/>
                      <a:pt x="1083" y="305"/>
                    </a:cubicBezTo>
                    <a:cubicBezTo>
                      <a:pt x="1112" y="302"/>
                      <a:pt x="1138" y="292"/>
                      <a:pt x="1159" y="276"/>
                    </a:cubicBezTo>
                    <a:cubicBezTo>
                      <a:pt x="1266" y="373"/>
                      <a:pt x="1266" y="373"/>
                      <a:pt x="1266" y="373"/>
                    </a:cubicBezTo>
                    <a:cubicBezTo>
                      <a:pt x="1258" y="388"/>
                      <a:pt x="1253" y="406"/>
                      <a:pt x="1253" y="424"/>
                    </a:cubicBezTo>
                    <a:cubicBezTo>
                      <a:pt x="1253" y="467"/>
                      <a:pt x="1278" y="504"/>
                      <a:pt x="1314" y="522"/>
                    </a:cubicBezTo>
                    <a:cubicBezTo>
                      <a:pt x="1193" y="815"/>
                      <a:pt x="1193" y="815"/>
                      <a:pt x="1193" y="815"/>
                    </a:cubicBezTo>
                    <a:cubicBezTo>
                      <a:pt x="1198" y="817"/>
                      <a:pt x="1204" y="819"/>
                      <a:pt x="1209" y="822"/>
                    </a:cubicBezTo>
                    <a:cubicBezTo>
                      <a:pt x="1331" y="529"/>
                      <a:pt x="1331" y="529"/>
                      <a:pt x="1331" y="529"/>
                    </a:cubicBezTo>
                    <a:cubicBezTo>
                      <a:pt x="1341" y="532"/>
                      <a:pt x="1351" y="533"/>
                      <a:pt x="1363" y="533"/>
                    </a:cubicBezTo>
                    <a:cubicBezTo>
                      <a:pt x="1409" y="533"/>
                      <a:pt x="1448" y="505"/>
                      <a:pt x="1464" y="464"/>
                    </a:cubicBezTo>
                    <a:cubicBezTo>
                      <a:pt x="1559" y="472"/>
                      <a:pt x="1559" y="472"/>
                      <a:pt x="1559" y="472"/>
                    </a:cubicBezTo>
                    <a:cubicBezTo>
                      <a:pt x="1558" y="477"/>
                      <a:pt x="1558" y="483"/>
                      <a:pt x="1558" y="488"/>
                    </a:cubicBezTo>
                    <a:cubicBezTo>
                      <a:pt x="1558" y="527"/>
                      <a:pt x="1572" y="562"/>
                      <a:pt x="1596" y="589"/>
                    </a:cubicBezTo>
                    <a:cubicBezTo>
                      <a:pt x="1302" y="883"/>
                      <a:pt x="1302" y="883"/>
                      <a:pt x="1302" y="883"/>
                    </a:cubicBezTo>
                    <a:cubicBezTo>
                      <a:pt x="1310" y="889"/>
                      <a:pt x="1317" y="897"/>
                      <a:pt x="1324" y="904"/>
                    </a:cubicBezTo>
                    <a:cubicBezTo>
                      <a:pt x="1618" y="610"/>
                      <a:pt x="1618" y="610"/>
                      <a:pt x="1618" y="610"/>
                    </a:cubicBezTo>
                    <a:cubicBezTo>
                      <a:pt x="1639" y="625"/>
                      <a:pt x="1664" y="636"/>
                      <a:pt x="1691" y="640"/>
                    </a:cubicBezTo>
                    <a:cubicBezTo>
                      <a:pt x="1678" y="771"/>
                      <a:pt x="1678" y="771"/>
                      <a:pt x="1678" y="771"/>
                    </a:cubicBezTo>
                    <a:cubicBezTo>
                      <a:pt x="1623" y="777"/>
                      <a:pt x="1581" y="823"/>
                      <a:pt x="1581" y="879"/>
                    </a:cubicBezTo>
                    <a:cubicBezTo>
                      <a:pt x="1581" y="891"/>
                      <a:pt x="1583" y="903"/>
                      <a:pt x="1586" y="914"/>
                    </a:cubicBezTo>
                    <a:cubicBezTo>
                      <a:pt x="1385" y="997"/>
                      <a:pt x="1385" y="997"/>
                      <a:pt x="1385" y="997"/>
                    </a:cubicBezTo>
                    <a:cubicBezTo>
                      <a:pt x="1387" y="1003"/>
                      <a:pt x="1390" y="1008"/>
                      <a:pt x="1392" y="1014"/>
                    </a:cubicBezTo>
                    <a:cubicBezTo>
                      <a:pt x="1593" y="930"/>
                      <a:pt x="1593" y="930"/>
                      <a:pt x="1593" y="930"/>
                    </a:cubicBezTo>
                    <a:cubicBezTo>
                      <a:pt x="1612" y="965"/>
                      <a:pt x="1648" y="989"/>
                      <a:pt x="1690" y="989"/>
                    </a:cubicBezTo>
                    <a:cubicBezTo>
                      <a:pt x="1719" y="989"/>
                      <a:pt x="1745" y="978"/>
                      <a:pt x="1764" y="960"/>
                    </a:cubicBezTo>
                    <a:cubicBezTo>
                      <a:pt x="1983" y="1078"/>
                      <a:pt x="1983" y="1078"/>
                      <a:pt x="1983" y="1078"/>
                    </a:cubicBezTo>
                    <a:cubicBezTo>
                      <a:pt x="1978" y="1092"/>
                      <a:pt x="1974" y="1107"/>
                      <a:pt x="1973" y="1123"/>
                    </a:cubicBezTo>
                    <a:cubicBezTo>
                      <a:pt x="1414" y="1123"/>
                      <a:pt x="1414" y="1123"/>
                      <a:pt x="1414" y="1123"/>
                    </a:cubicBezTo>
                    <a:cubicBezTo>
                      <a:pt x="1415" y="1128"/>
                      <a:pt x="1415" y="1133"/>
                      <a:pt x="1415" y="1138"/>
                    </a:cubicBezTo>
                    <a:cubicBezTo>
                      <a:pt x="1415" y="1143"/>
                      <a:pt x="1415" y="1148"/>
                      <a:pt x="1414" y="1153"/>
                    </a:cubicBezTo>
                    <a:cubicBezTo>
                      <a:pt x="1973" y="1153"/>
                      <a:pt x="1973" y="1153"/>
                      <a:pt x="1973" y="1153"/>
                    </a:cubicBezTo>
                    <a:cubicBezTo>
                      <a:pt x="1978" y="1193"/>
                      <a:pt x="1998" y="1229"/>
                      <a:pt x="2028" y="1253"/>
                    </a:cubicBezTo>
                    <a:lnTo>
                      <a:pt x="1940" y="1369"/>
                    </a:lnTo>
                    <a:close/>
                    <a:moveTo>
                      <a:pt x="1350" y="1031"/>
                    </a:moveTo>
                    <a:cubicBezTo>
                      <a:pt x="1348" y="1025"/>
                      <a:pt x="1345" y="1020"/>
                      <a:pt x="1343" y="1014"/>
                    </a:cubicBezTo>
                    <a:cubicBezTo>
                      <a:pt x="1330" y="985"/>
                      <a:pt x="1313" y="959"/>
                      <a:pt x="1292" y="936"/>
                    </a:cubicBezTo>
                    <a:cubicBezTo>
                      <a:pt x="1285" y="928"/>
                      <a:pt x="1278" y="921"/>
                      <a:pt x="1270" y="915"/>
                    </a:cubicBezTo>
                    <a:cubicBezTo>
                      <a:pt x="1247" y="894"/>
                      <a:pt x="1221" y="876"/>
                      <a:pt x="1192" y="863"/>
                    </a:cubicBezTo>
                    <a:cubicBezTo>
                      <a:pt x="1186" y="861"/>
                      <a:pt x="1181" y="858"/>
                      <a:pt x="1175" y="856"/>
                    </a:cubicBezTo>
                    <a:cubicBezTo>
                      <a:pt x="1147" y="845"/>
                      <a:pt x="1116" y="839"/>
                      <a:pt x="1083" y="837"/>
                    </a:cubicBezTo>
                    <a:cubicBezTo>
                      <a:pt x="1079" y="837"/>
                      <a:pt x="1073" y="837"/>
                      <a:pt x="1068" y="837"/>
                    </a:cubicBezTo>
                    <a:cubicBezTo>
                      <a:pt x="1063" y="837"/>
                      <a:pt x="1058" y="837"/>
                      <a:pt x="1053" y="837"/>
                    </a:cubicBezTo>
                    <a:cubicBezTo>
                      <a:pt x="1021" y="839"/>
                      <a:pt x="990" y="845"/>
                      <a:pt x="962" y="856"/>
                    </a:cubicBezTo>
                    <a:cubicBezTo>
                      <a:pt x="956" y="858"/>
                      <a:pt x="950" y="861"/>
                      <a:pt x="945" y="863"/>
                    </a:cubicBezTo>
                    <a:cubicBezTo>
                      <a:pt x="916" y="876"/>
                      <a:pt x="890" y="894"/>
                      <a:pt x="866" y="915"/>
                    </a:cubicBezTo>
                    <a:cubicBezTo>
                      <a:pt x="859" y="921"/>
                      <a:pt x="852" y="928"/>
                      <a:pt x="845" y="936"/>
                    </a:cubicBezTo>
                    <a:cubicBezTo>
                      <a:pt x="824" y="959"/>
                      <a:pt x="807" y="985"/>
                      <a:pt x="794" y="1014"/>
                    </a:cubicBezTo>
                    <a:cubicBezTo>
                      <a:pt x="791" y="1020"/>
                      <a:pt x="789" y="1025"/>
                      <a:pt x="787" y="1031"/>
                    </a:cubicBezTo>
                    <a:cubicBezTo>
                      <a:pt x="776" y="1060"/>
                      <a:pt x="769" y="1091"/>
                      <a:pt x="768" y="1123"/>
                    </a:cubicBezTo>
                    <a:cubicBezTo>
                      <a:pt x="767" y="1128"/>
                      <a:pt x="767" y="1133"/>
                      <a:pt x="767" y="1138"/>
                    </a:cubicBezTo>
                    <a:cubicBezTo>
                      <a:pt x="767" y="1143"/>
                      <a:pt x="767" y="1148"/>
                      <a:pt x="768" y="1153"/>
                    </a:cubicBezTo>
                    <a:cubicBezTo>
                      <a:pt x="769" y="1185"/>
                      <a:pt x="776" y="1216"/>
                      <a:pt x="787" y="1245"/>
                    </a:cubicBezTo>
                    <a:cubicBezTo>
                      <a:pt x="789" y="1250"/>
                      <a:pt x="791" y="1256"/>
                      <a:pt x="794" y="1261"/>
                    </a:cubicBezTo>
                    <a:cubicBezTo>
                      <a:pt x="807" y="1290"/>
                      <a:pt x="824" y="1317"/>
                      <a:pt x="845" y="1340"/>
                    </a:cubicBezTo>
                    <a:cubicBezTo>
                      <a:pt x="852" y="1347"/>
                      <a:pt x="859" y="1354"/>
                      <a:pt x="866" y="1361"/>
                    </a:cubicBezTo>
                    <a:cubicBezTo>
                      <a:pt x="890" y="1382"/>
                      <a:pt x="916" y="1399"/>
                      <a:pt x="945" y="1412"/>
                    </a:cubicBezTo>
                    <a:cubicBezTo>
                      <a:pt x="950" y="1415"/>
                      <a:pt x="956" y="1417"/>
                      <a:pt x="962" y="1419"/>
                    </a:cubicBezTo>
                    <a:cubicBezTo>
                      <a:pt x="990" y="1430"/>
                      <a:pt x="1021" y="1437"/>
                      <a:pt x="1053" y="1439"/>
                    </a:cubicBezTo>
                    <a:cubicBezTo>
                      <a:pt x="1058" y="1439"/>
                      <a:pt x="1063" y="1439"/>
                      <a:pt x="1068" y="1439"/>
                    </a:cubicBezTo>
                    <a:cubicBezTo>
                      <a:pt x="1073" y="1439"/>
                      <a:pt x="1079" y="1439"/>
                      <a:pt x="1083" y="1439"/>
                    </a:cubicBezTo>
                    <a:cubicBezTo>
                      <a:pt x="1116" y="1437"/>
                      <a:pt x="1147" y="1430"/>
                      <a:pt x="1175" y="1419"/>
                    </a:cubicBezTo>
                    <a:cubicBezTo>
                      <a:pt x="1181" y="1417"/>
                      <a:pt x="1186" y="1415"/>
                      <a:pt x="1192" y="1412"/>
                    </a:cubicBezTo>
                    <a:cubicBezTo>
                      <a:pt x="1221" y="1399"/>
                      <a:pt x="1247" y="1382"/>
                      <a:pt x="1270" y="1361"/>
                    </a:cubicBezTo>
                    <a:cubicBezTo>
                      <a:pt x="1278" y="1354"/>
                      <a:pt x="1285" y="1347"/>
                      <a:pt x="1292" y="1340"/>
                    </a:cubicBezTo>
                    <a:cubicBezTo>
                      <a:pt x="1313" y="1317"/>
                      <a:pt x="1330" y="1290"/>
                      <a:pt x="1343" y="1261"/>
                    </a:cubicBezTo>
                    <a:cubicBezTo>
                      <a:pt x="1345" y="1256"/>
                      <a:pt x="1348" y="1250"/>
                      <a:pt x="1350" y="1245"/>
                    </a:cubicBezTo>
                    <a:cubicBezTo>
                      <a:pt x="1361" y="1216"/>
                      <a:pt x="1368" y="1185"/>
                      <a:pt x="1369" y="1153"/>
                    </a:cubicBezTo>
                    <a:cubicBezTo>
                      <a:pt x="1369" y="1148"/>
                      <a:pt x="1370" y="1143"/>
                      <a:pt x="1370" y="1138"/>
                    </a:cubicBezTo>
                    <a:cubicBezTo>
                      <a:pt x="1370" y="1133"/>
                      <a:pt x="1369" y="1128"/>
                      <a:pt x="1369" y="1123"/>
                    </a:cubicBezTo>
                    <a:cubicBezTo>
                      <a:pt x="1368" y="1091"/>
                      <a:pt x="1361" y="1060"/>
                      <a:pt x="1350" y="10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83943" tIns="41972" rIns="83943" bIns="4197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7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Rectangle 22"/>
              <p:cNvSpPr/>
              <p:nvPr/>
            </p:nvSpPr>
            <p:spPr bwMode="auto">
              <a:xfrm>
                <a:off x="8029851" y="2029554"/>
                <a:ext cx="4010194" cy="1398905"/>
              </a:xfrm>
              <a:prstGeom prst="rect">
                <a:avLst/>
              </a:prstGeom>
              <a:solidFill>
                <a:srgbClr val="D7DBDC"/>
              </a:solidFill>
              <a:ln w="381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5112" tIns="93260" rIns="95112" bIns="9326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kern="0" dirty="0">
                  <a:solidFill>
                    <a:srgbClr val="FFFFFF"/>
                  </a:solidFill>
                </a:endParaRPr>
              </a:p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kern="0" dirty="0">
                  <a:solidFill>
                    <a:srgbClr val="FFFFFF"/>
                  </a:solidFill>
                </a:endParaRPr>
              </a:p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kern="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TextBox 27"/>
              <p:cNvSpPr txBox="1"/>
              <p:nvPr/>
            </p:nvSpPr>
            <p:spPr>
              <a:xfrm>
                <a:off x="6573513" y="1997280"/>
                <a:ext cx="1526858" cy="483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FFFFFF"/>
                    </a:solidFill>
                  </a:rPr>
                  <a:t>思政</a:t>
                </a:r>
                <a:endParaRPr lang="en-US" sz="24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3" name="Gruppieren 8"/>
            <p:cNvGrpSpPr/>
            <p:nvPr/>
          </p:nvGrpSpPr>
          <p:grpSpPr>
            <a:xfrm>
              <a:off x="484469" y="2094755"/>
              <a:ext cx="5450781" cy="1431551"/>
              <a:chOff x="1932266" y="5231028"/>
              <a:chExt cx="5409099" cy="1400645"/>
            </a:xfrm>
          </p:grpSpPr>
          <p:sp>
            <p:nvSpPr>
              <p:cNvPr id="24" name="Rectangle 15"/>
              <p:cNvSpPr/>
              <p:nvPr/>
            </p:nvSpPr>
            <p:spPr bwMode="auto">
              <a:xfrm>
                <a:off x="1932266" y="5231028"/>
                <a:ext cx="1398905" cy="1398905"/>
              </a:xfrm>
              <a:prstGeom prst="rect">
                <a:avLst/>
              </a:prstGeom>
              <a:solidFill>
                <a:srgbClr val="CB7D40"/>
              </a:solidFill>
              <a:ln w="381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5112" tIns="93260" rIns="95112" bIns="9326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5" name="TextBox 16"/>
              <p:cNvSpPr txBox="1"/>
              <p:nvPr/>
            </p:nvSpPr>
            <p:spPr>
              <a:xfrm>
                <a:off x="1962688" y="5231029"/>
                <a:ext cx="1388370" cy="478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FFFFFF"/>
                    </a:solidFill>
                  </a:rPr>
                  <a:t>开放</a:t>
                </a:r>
                <a:endParaRPr lang="en-US" sz="24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Rectangle 32"/>
              <p:cNvSpPr/>
              <p:nvPr/>
            </p:nvSpPr>
            <p:spPr bwMode="auto">
              <a:xfrm>
                <a:off x="3331171" y="5232768"/>
                <a:ext cx="4010194" cy="1398905"/>
              </a:xfrm>
              <a:prstGeom prst="rect">
                <a:avLst/>
              </a:prstGeom>
              <a:solidFill>
                <a:srgbClr val="D7DBDC"/>
              </a:solidFill>
              <a:ln w="381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5112" tIns="93260" rIns="95112" bIns="9326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kern="0" dirty="0">
                  <a:solidFill>
                    <a:srgbClr val="FFFFFF"/>
                  </a:solidFill>
                </a:endParaRPr>
              </a:p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kern="0" dirty="0">
                  <a:solidFill>
                    <a:srgbClr val="FFFFFF"/>
                  </a:solidFill>
                </a:endParaRPr>
              </a:p>
              <a:p>
                <a:pPr defTabSz="950843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36" b="1" kern="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Freeform 8"/>
              <p:cNvSpPr>
                <a:spLocks noChangeAspect="1" noEditPoints="1"/>
              </p:cNvSpPr>
              <p:nvPr/>
            </p:nvSpPr>
            <p:spPr bwMode="black">
              <a:xfrm>
                <a:off x="2553576" y="5922007"/>
                <a:ext cx="559562" cy="559416"/>
              </a:xfrm>
              <a:custGeom>
                <a:avLst/>
                <a:gdLst>
                  <a:gd name="T0" fmla="*/ 226 w 300"/>
                  <a:gd name="T1" fmla="*/ 193 h 300"/>
                  <a:gd name="T2" fmla="*/ 233 w 300"/>
                  <a:gd name="T3" fmla="*/ 157 h 300"/>
                  <a:gd name="T4" fmla="*/ 233 w 300"/>
                  <a:gd name="T5" fmla="*/ 128 h 300"/>
                  <a:gd name="T6" fmla="*/ 142 w 300"/>
                  <a:gd name="T7" fmla="*/ 51 h 300"/>
                  <a:gd name="T8" fmla="*/ 52 w 300"/>
                  <a:gd name="T9" fmla="*/ 128 h 300"/>
                  <a:gd name="T10" fmla="*/ 52 w 300"/>
                  <a:gd name="T11" fmla="*/ 157 h 300"/>
                  <a:gd name="T12" fmla="*/ 142 w 300"/>
                  <a:gd name="T13" fmla="*/ 234 h 300"/>
                  <a:gd name="T14" fmla="*/ 183 w 300"/>
                  <a:gd name="T15" fmla="*/ 224 h 300"/>
                  <a:gd name="T16" fmla="*/ 193 w 300"/>
                  <a:gd name="T17" fmla="*/ 226 h 300"/>
                  <a:gd name="T18" fmla="*/ 270 w 300"/>
                  <a:gd name="T19" fmla="*/ 300 h 300"/>
                  <a:gd name="T20" fmla="*/ 298 w 300"/>
                  <a:gd name="T21" fmla="*/ 275 h 300"/>
                  <a:gd name="T22" fmla="*/ 206 w 300"/>
                  <a:gd name="T23" fmla="*/ 157 h 300"/>
                  <a:gd name="T24" fmla="*/ 142 w 300"/>
                  <a:gd name="T25" fmla="*/ 208 h 300"/>
                  <a:gd name="T26" fmla="*/ 78 w 300"/>
                  <a:gd name="T27" fmla="*/ 157 h 300"/>
                  <a:gd name="T28" fmla="*/ 78 w 300"/>
                  <a:gd name="T29" fmla="*/ 128 h 300"/>
                  <a:gd name="T30" fmla="*/ 142 w 300"/>
                  <a:gd name="T31" fmla="*/ 77 h 300"/>
                  <a:gd name="T32" fmla="*/ 206 w 300"/>
                  <a:gd name="T33" fmla="*/ 128 h 300"/>
                  <a:gd name="T34" fmla="*/ 206 w 300"/>
                  <a:gd name="T35" fmla="*/ 157 h 300"/>
                  <a:gd name="T36" fmla="*/ 197 w 300"/>
                  <a:gd name="T37" fmla="*/ 142 h 300"/>
                  <a:gd name="T38" fmla="*/ 156 w 300"/>
                  <a:gd name="T39" fmla="*/ 157 h 300"/>
                  <a:gd name="T40" fmla="*/ 142 w 300"/>
                  <a:gd name="T41" fmla="*/ 197 h 300"/>
                  <a:gd name="T42" fmla="*/ 128 w 300"/>
                  <a:gd name="T43" fmla="*/ 157 h 300"/>
                  <a:gd name="T44" fmla="*/ 87 w 300"/>
                  <a:gd name="T45" fmla="*/ 142 h 300"/>
                  <a:gd name="T46" fmla="*/ 128 w 300"/>
                  <a:gd name="T47" fmla="*/ 128 h 300"/>
                  <a:gd name="T48" fmla="*/ 142 w 300"/>
                  <a:gd name="T49" fmla="*/ 88 h 300"/>
                  <a:gd name="T50" fmla="*/ 156 w 300"/>
                  <a:gd name="T51" fmla="*/ 128 h 300"/>
                  <a:gd name="T52" fmla="*/ 142 w 300"/>
                  <a:gd name="T53" fmla="*/ 40 h 300"/>
                  <a:gd name="T54" fmla="*/ 128 w 300"/>
                  <a:gd name="T55" fmla="*/ 0 h 300"/>
                  <a:gd name="T56" fmla="*/ 156 w 300"/>
                  <a:gd name="T57" fmla="*/ 41 h 300"/>
                  <a:gd name="T58" fmla="*/ 40 w 300"/>
                  <a:gd name="T59" fmla="*/ 142 h 300"/>
                  <a:gd name="T60" fmla="*/ 0 w 300"/>
                  <a:gd name="T61" fmla="*/ 157 h 300"/>
                  <a:gd name="T62" fmla="*/ 41 w 300"/>
                  <a:gd name="T63" fmla="*/ 128 h 300"/>
                  <a:gd name="T64" fmla="*/ 142 w 300"/>
                  <a:gd name="T65" fmla="*/ 245 h 300"/>
                  <a:gd name="T66" fmla="*/ 156 w 300"/>
                  <a:gd name="T67" fmla="*/ 285 h 300"/>
                  <a:gd name="T68" fmla="*/ 128 w 300"/>
                  <a:gd name="T69" fmla="*/ 244 h 300"/>
                  <a:gd name="T70" fmla="*/ 245 w 300"/>
                  <a:gd name="T71" fmla="*/ 142 h 300"/>
                  <a:gd name="T72" fmla="*/ 285 w 300"/>
                  <a:gd name="T73" fmla="*/ 128 h 300"/>
                  <a:gd name="T74" fmla="*/ 243 w 300"/>
                  <a:gd name="T75" fmla="*/ 157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00" h="300">
                    <a:moveTo>
                      <a:pt x="298" y="266"/>
                    </a:moveTo>
                    <a:cubicBezTo>
                      <a:pt x="226" y="193"/>
                      <a:pt x="226" y="193"/>
                      <a:pt x="226" y="193"/>
                    </a:cubicBezTo>
                    <a:cubicBezTo>
                      <a:pt x="223" y="191"/>
                      <a:pt x="222" y="186"/>
                      <a:pt x="224" y="183"/>
                    </a:cubicBezTo>
                    <a:cubicBezTo>
                      <a:pt x="228" y="175"/>
                      <a:pt x="231" y="166"/>
                      <a:pt x="233" y="157"/>
                    </a:cubicBezTo>
                    <a:cubicBezTo>
                      <a:pt x="233" y="152"/>
                      <a:pt x="234" y="147"/>
                      <a:pt x="234" y="142"/>
                    </a:cubicBezTo>
                    <a:cubicBezTo>
                      <a:pt x="234" y="138"/>
                      <a:pt x="233" y="133"/>
                      <a:pt x="233" y="128"/>
                    </a:cubicBezTo>
                    <a:cubicBezTo>
                      <a:pt x="227" y="89"/>
                      <a:pt x="196" y="58"/>
                      <a:pt x="156" y="52"/>
                    </a:cubicBezTo>
                    <a:cubicBezTo>
                      <a:pt x="152" y="51"/>
                      <a:pt x="147" y="51"/>
                      <a:pt x="142" y="51"/>
                    </a:cubicBezTo>
                    <a:cubicBezTo>
                      <a:pt x="137" y="51"/>
                      <a:pt x="133" y="51"/>
                      <a:pt x="128" y="52"/>
                    </a:cubicBezTo>
                    <a:cubicBezTo>
                      <a:pt x="89" y="58"/>
                      <a:pt x="58" y="89"/>
                      <a:pt x="52" y="128"/>
                    </a:cubicBezTo>
                    <a:cubicBezTo>
                      <a:pt x="51" y="133"/>
                      <a:pt x="51" y="138"/>
                      <a:pt x="51" y="142"/>
                    </a:cubicBezTo>
                    <a:cubicBezTo>
                      <a:pt x="51" y="147"/>
                      <a:pt x="51" y="152"/>
                      <a:pt x="52" y="157"/>
                    </a:cubicBezTo>
                    <a:cubicBezTo>
                      <a:pt x="58" y="196"/>
                      <a:pt x="89" y="227"/>
                      <a:pt x="128" y="233"/>
                    </a:cubicBezTo>
                    <a:cubicBezTo>
                      <a:pt x="133" y="234"/>
                      <a:pt x="137" y="234"/>
                      <a:pt x="142" y="234"/>
                    </a:cubicBezTo>
                    <a:cubicBezTo>
                      <a:pt x="147" y="234"/>
                      <a:pt x="152" y="234"/>
                      <a:pt x="156" y="233"/>
                    </a:cubicBezTo>
                    <a:cubicBezTo>
                      <a:pt x="166" y="231"/>
                      <a:pt x="175" y="228"/>
                      <a:pt x="183" y="224"/>
                    </a:cubicBezTo>
                    <a:cubicBezTo>
                      <a:pt x="184" y="224"/>
                      <a:pt x="185" y="223"/>
                      <a:pt x="187" y="223"/>
                    </a:cubicBezTo>
                    <a:cubicBezTo>
                      <a:pt x="189" y="223"/>
                      <a:pt x="192" y="224"/>
                      <a:pt x="193" y="226"/>
                    </a:cubicBezTo>
                    <a:cubicBezTo>
                      <a:pt x="265" y="298"/>
                      <a:pt x="265" y="298"/>
                      <a:pt x="265" y="298"/>
                    </a:cubicBezTo>
                    <a:cubicBezTo>
                      <a:pt x="267" y="299"/>
                      <a:pt x="268" y="300"/>
                      <a:pt x="270" y="300"/>
                    </a:cubicBezTo>
                    <a:cubicBezTo>
                      <a:pt x="272" y="300"/>
                      <a:pt x="273" y="299"/>
                      <a:pt x="275" y="298"/>
                    </a:cubicBezTo>
                    <a:cubicBezTo>
                      <a:pt x="298" y="275"/>
                      <a:pt x="298" y="275"/>
                      <a:pt x="298" y="275"/>
                    </a:cubicBezTo>
                    <a:cubicBezTo>
                      <a:pt x="300" y="272"/>
                      <a:pt x="300" y="268"/>
                      <a:pt x="298" y="266"/>
                    </a:cubicBezTo>
                    <a:close/>
                    <a:moveTo>
                      <a:pt x="206" y="157"/>
                    </a:moveTo>
                    <a:cubicBezTo>
                      <a:pt x="201" y="181"/>
                      <a:pt x="181" y="201"/>
                      <a:pt x="156" y="206"/>
                    </a:cubicBezTo>
                    <a:cubicBezTo>
                      <a:pt x="152" y="207"/>
                      <a:pt x="147" y="208"/>
                      <a:pt x="142" y="208"/>
                    </a:cubicBezTo>
                    <a:cubicBezTo>
                      <a:pt x="137" y="208"/>
                      <a:pt x="133" y="207"/>
                      <a:pt x="128" y="206"/>
                    </a:cubicBezTo>
                    <a:cubicBezTo>
                      <a:pt x="103" y="201"/>
                      <a:pt x="84" y="181"/>
                      <a:pt x="78" y="157"/>
                    </a:cubicBezTo>
                    <a:cubicBezTo>
                      <a:pt x="77" y="152"/>
                      <a:pt x="77" y="147"/>
                      <a:pt x="77" y="142"/>
                    </a:cubicBezTo>
                    <a:cubicBezTo>
                      <a:pt x="77" y="138"/>
                      <a:pt x="77" y="133"/>
                      <a:pt x="78" y="128"/>
                    </a:cubicBezTo>
                    <a:cubicBezTo>
                      <a:pt x="84" y="103"/>
                      <a:pt x="103" y="84"/>
                      <a:pt x="128" y="79"/>
                    </a:cubicBezTo>
                    <a:cubicBezTo>
                      <a:pt x="133" y="78"/>
                      <a:pt x="137" y="77"/>
                      <a:pt x="142" y="77"/>
                    </a:cubicBezTo>
                    <a:cubicBezTo>
                      <a:pt x="147" y="77"/>
                      <a:pt x="152" y="78"/>
                      <a:pt x="156" y="79"/>
                    </a:cubicBezTo>
                    <a:cubicBezTo>
                      <a:pt x="181" y="84"/>
                      <a:pt x="201" y="103"/>
                      <a:pt x="206" y="128"/>
                    </a:cubicBezTo>
                    <a:cubicBezTo>
                      <a:pt x="207" y="133"/>
                      <a:pt x="208" y="138"/>
                      <a:pt x="208" y="142"/>
                    </a:cubicBezTo>
                    <a:cubicBezTo>
                      <a:pt x="208" y="147"/>
                      <a:pt x="207" y="152"/>
                      <a:pt x="206" y="157"/>
                    </a:cubicBezTo>
                    <a:close/>
                    <a:moveTo>
                      <a:pt x="195" y="128"/>
                    </a:moveTo>
                    <a:cubicBezTo>
                      <a:pt x="196" y="133"/>
                      <a:pt x="197" y="138"/>
                      <a:pt x="197" y="142"/>
                    </a:cubicBezTo>
                    <a:cubicBezTo>
                      <a:pt x="197" y="147"/>
                      <a:pt x="196" y="152"/>
                      <a:pt x="195" y="157"/>
                    </a:cubicBezTo>
                    <a:cubicBezTo>
                      <a:pt x="156" y="157"/>
                      <a:pt x="156" y="157"/>
                      <a:pt x="156" y="157"/>
                    </a:cubicBezTo>
                    <a:cubicBezTo>
                      <a:pt x="156" y="195"/>
                      <a:pt x="156" y="195"/>
                      <a:pt x="156" y="195"/>
                    </a:cubicBezTo>
                    <a:cubicBezTo>
                      <a:pt x="152" y="197"/>
                      <a:pt x="147" y="197"/>
                      <a:pt x="142" y="197"/>
                    </a:cubicBezTo>
                    <a:cubicBezTo>
                      <a:pt x="137" y="197"/>
                      <a:pt x="133" y="197"/>
                      <a:pt x="128" y="195"/>
                    </a:cubicBezTo>
                    <a:cubicBezTo>
                      <a:pt x="128" y="157"/>
                      <a:pt x="128" y="157"/>
                      <a:pt x="128" y="157"/>
                    </a:cubicBezTo>
                    <a:cubicBezTo>
                      <a:pt x="89" y="157"/>
                      <a:pt x="89" y="157"/>
                      <a:pt x="89" y="157"/>
                    </a:cubicBezTo>
                    <a:cubicBezTo>
                      <a:pt x="88" y="152"/>
                      <a:pt x="87" y="147"/>
                      <a:pt x="87" y="142"/>
                    </a:cubicBezTo>
                    <a:cubicBezTo>
                      <a:pt x="87" y="138"/>
                      <a:pt x="88" y="133"/>
                      <a:pt x="89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90"/>
                      <a:pt x="128" y="90"/>
                      <a:pt x="128" y="90"/>
                    </a:cubicBezTo>
                    <a:cubicBezTo>
                      <a:pt x="133" y="88"/>
                      <a:pt x="137" y="88"/>
                      <a:pt x="142" y="88"/>
                    </a:cubicBezTo>
                    <a:cubicBezTo>
                      <a:pt x="147" y="88"/>
                      <a:pt x="152" y="88"/>
                      <a:pt x="156" y="90"/>
                    </a:cubicBezTo>
                    <a:cubicBezTo>
                      <a:pt x="156" y="128"/>
                      <a:pt x="156" y="128"/>
                      <a:pt x="156" y="128"/>
                    </a:cubicBezTo>
                    <a:lnTo>
                      <a:pt x="195" y="128"/>
                    </a:lnTo>
                    <a:close/>
                    <a:moveTo>
                      <a:pt x="142" y="40"/>
                    </a:moveTo>
                    <a:cubicBezTo>
                      <a:pt x="137" y="40"/>
                      <a:pt x="133" y="41"/>
                      <a:pt x="128" y="41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41"/>
                      <a:pt x="156" y="41"/>
                      <a:pt x="156" y="41"/>
                    </a:cubicBezTo>
                    <a:cubicBezTo>
                      <a:pt x="152" y="41"/>
                      <a:pt x="147" y="40"/>
                      <a:pt x="142" y="40"/>
                    </a:cubicBezTo>
                    <a:close/>
                    <a:moveTo>
                      <a:pt x="40" y="142"/>
                    </a:moveTo>
                    <a:cubicBezTo>
                      <a:pt x="40" y="147"/>
                      <a:pt x="40" y="152"/>
                      <a:pt x="41" y="157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41" y="128"/>
                      <a:pt x="41" y="128"/>
                      <a:pt x="41" y="128"/>
                    </a:cubicBezTo>
                    <a:cubicBezTo>
                      <a:pt x="40" y="133"/>
                      <a:pt x="40" y="138"/>
                      <a:pt x="40" y="142"/>
                    </a:cubicBezTo>
                    <a:close/>
                    <a:moveTo>
                      <a:pt x="142" y="245"/>
                    </a:moveTo>
                    <a:cubicBezTo>
                      <a:pt x="147" y="245"/>
                      <a:pt x="152" y="244"/>
                      <a:pt x="156" y="244"/>
                    </a:cubicBezTo>
                    <a:cubicBezTo>
                      <a:pt x="156" y="285"/>
                      <a:pt x="156" y="285"/>
                      <a:pt x="156" y="285"/>
                    </a:cubicBezTo>
                    <a:cubicBezTo>
                      <a:pt x="128" y="285"/>
                      <a:pt x="128" y="285"/>
                      <a:pt x="128" y="285"/>
                    </a:cubicBezTo>
                    <a:cubicBezTo>
                      <a:pt x="128" y="244"/>
                      <a:pt x="128" y="244"/>
                      <a:pt x="128" y="244"/>
                    </a:cubicBezTo>
                    <a:cubicBezTo>
                      <a:pt x="133" y="244"/>
                      <a:pt x="137" y="245"/>
                      <a:pt x="142" y="245"/>
                    </a:cubicBezTo>
                    <a:close/>
                    <a:moveTo>
                      <a:pt x="245" y="142"/>
                    </a:moveTo>
                    <a:cubicBezTo>
                      <a:pt x="245" y="138"/>
                      <a:pt x="244" y="133"/>
                      <a:pt x="243" y="128"/>
                    </a:cubicBezTo>
                    <a:cubicBezTo>
                      <a:pt x="285" y="128"/>
                      <a:pt x="285" y="128"/>
                      <a:pt x="285" y="128"/>
                    </a:cubicBezTo>
                    <a:cubicBezTo>
                      <a:pt x="285" y="157"/>
                      <a:pt x="285" y="157"/>
                      <a:pt x="285" y="157"/>
                    </a:cubicBezTo>
                    <a:cubicBezTo>
                      <a:pt x="243" y="157"/>
                      <a:pt x="243" y="157"/>
                      <a:pt x="243" y="157"/>
                    </a:cubicBezTo>
                    <a:cubicBezTo>
                      <a:pt x="244" y="152"/>
                      <a:pt x="245" y="147"/>
                      <a:pt x="245" y="1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83943" tIns="41972" rIns="83943" bIns="4197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32" dirty="0">
                  <a:solidFill>
                    <a:srgbClr val="505050"/>
                  </a:solidFill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766763" y="857986"/>
            <a:ext cx="2117035" cy="165373"/>
            <a:chOff x="2218037" y="6272597"/>
            <a:chExt cx="2734179" cy="2135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9" name="组合 28"/>
            <p:cNvGrpSpPr/>
            <p:nvPr/>
          </p:nvGrpSpPr>
          <p:grpSpPr>
            <a:xfrm flipV="1">
              <a:off x="2218037" y="6272597"/>
              <a:ext cx="1341734" cy="213582"/>
              <a:chOff x="2218037" y="5369771"/>
              <a:chExt cx="5671594" cy="902826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flipV="1">
              <a:off x="3610482" y="6272597"/>
              <a:ext cx="1341734" cy="213582"/>
              <a:chOff x="2218037" y="5369771"/>
              <a:chExt cx="5671594" cy="902826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1" name="文本框 40"/>
          <p:cNvSpPr txBox="1"/>
          <p:nvPr/>
        </p:nvSpPr>
        <p:spPr>
          <a:xfrm>
            <a:off x="670138" y="37513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其他事项</a:t>
            </a:r>
          </a:p>
        </p:txBody>
      </p:sp>
      <p:sp>
        <p:nvSpPr>
          <p:cNvPr id="2" name="矩形 1"/>
          <p:cNvSpPr/>
          <p:nvPr/>
        </p:nvSpPr>
        <p:spPr>
          <a:xfrm>
            <a:off x="2150218" y="2356303"/>
            <a:ext cx="35190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实验室开放时间：工作日周一到周四早上</a:t>
            </a:r>
            <a:r>
              <a:rPr lang="en-US" altLang="zh-CN" dirty="0">
                <a:latin typeface="宋体" panose="02010600030101010101" pitchFamily="2" charset="-122"/>
              </a:rPr>
              <a:t>8:30~</a:t>
            </a:r>
            <a:r>
              <a:rPr lang="zh-CN" altLang="en-US" dirty="0">
                <a:latin typeface="宋体" panose="02010600030101010101" pitchFamily="2" charset="-122"/>
              </a:rPr>
              <a:t>晚上</a:t>
            </a:r>
            <a:r>
              <a:rPr lang="en-US" altLang="zh-CN" dirty="0">
                <a:latin typeface="宋体" panose="02010600030101010101" pitchFamily="2" charset="-122"/>
              </a:rPr>
              <a:t>20:00</a:t>
            </a:r>
            <a:r>
              <a:rPr lang="zh-CN" altLang="en-US" dirty="0">
                <a:latin typeface="宋体" panose="02010600030101010101" pitchFamily="2" charset="-122"/>
              </a:rPr>
              <a:t>，周五</a:t>
            </a:r>
            <a:r>
              <a:rPr lang="en-US" altLang="zh-CN" dirty="0">
                <a:latin typeface="宋体" panose="02010600030101010101" pitchFamily="2" charset="-122"/>
              </a:rPr>
              <a:t>8:30~16:30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2150218" y="3828160"/>
            <a:ext cx="35190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答疑时间：周二全天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720537" y="2150133"/>
            <a:ext cx="36031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rgbClr val="333333"/>
                </a:solidFill>
                <a:latin typeface="-apple-system-font"/>
              </a:rPr>
              <a:t>政治认同、家国情怀、文化素养、法治意识、道德修养、劳动教育、心理健康、理想信念，立德树人。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157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6171728" y="1110216"/>
            <a:ext cx="2709675" cy="2709675"/>
          </a:xfrm>
          <a:prstGeom prst="diamond">
            <a:avLst/>
          </a:prstGeom>
          <a:solidFill>
            <a:srgbClr val="CB7D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菱形 2"/>
          <p:cNvSpPr/>
          <p:nvPr/>
        </p:nvSpPr>
        <p:spPr>
          <a:xfrm>
            <a:off x="8001404" y="2546333"/>
            <a:ext cx="1992388" cy="1992388"/>
          </a:xfrm>
          <a:prstGeom prst="diamond">
            <a:avLst/>
          </a:prstGeom>
          <a:solidFill>
            <a:srgbClr val="6F868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菱形 3"/>
          <p:cNvSpPr/>
          <p:nvPr/>
        </p:nvSpPr>
        <p:spPr>
          <a:xfrm>
            <a:off x="7279341" y="3636879"/>
            <a:ext cx="1247753" cy="1247753"/>
          </a:xfrm>
          <a:prstGeom prst="diamond">
            <a:avLst/>
          </a:prstGeom>
          <a:solidFill>
            <a:srgbClr val="A292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528864" y="3188584"/>
            <a:ext cx="336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6F4D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Thank you!</a:t>
            </a:r>
            <a:endParaRPr lang="zh-CN" altLang="en-US" sz="4000" dirty="0">
              <a:solidFill>
                <a:srgbClr val="6F4D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anose="04040905080B02020502" pitchFamily="82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70008" y="6071439"/>
            <a:ext cx="6051983" cy="472753"/>
            <a:chOff x="2218037" y="6272597"/>
            <a:chExt cx="2734179" cy="2135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7" name="组合 6"/>
            <p:cNvGrpSpPr/>
            <p:nvPr/>
          </p:nvGrpSpPr>
          <p:grpSpPr>
            <a:xfrm flipV="1">
              <a:off x="2218037" y="6272597"/>
              <a:ext cx="1341734" cy="213582"/>
              <a:chOff x="2218037" y="5369771"/>
              <a:chExt cx="5671594" cy="902826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 flipV="1">
              <a:off x="3610482" y="6272597"/>
              <a:ext cx="1341734" cy="213582"/>
              <a:chOff x="2218037" y="5369771"/>
              <a:chExt cx="5671594" cy="902826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2218037" y="5369771"/>
                <a:ext cx="995422" cy="902826"/>
              </a:xfrm>
              <a:prstGeom prst="rect">
                <a:avLst/>
              </a:prstGeom>
              <a:solidFill>
                <a:srgbClr val="CB7D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387080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4556123" y="5369771"/>
                <a:ext cx="995422" cy="902826"/>
              </a:xfrm>
              <a:prstGeom prst="rect">
                <a:avLst/>
              </a:prstGeom>
              <a:solidFill>
                <a:srgbClr val="E6B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5725166" y="5369771"/>
                <a:ext cx="995422" cy="902826"/>
              </a:xfrm>
              <a:prstGeom prst="rect">
                <a:avLst/>
              </a:prstGeom>
              <a:solidFill>
                <a:srgbClr val="6F4D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894209" y="5369771"/>
                <a:ext cx="995422" cy="902826"/>
              </a:xfrm>
              <a:prstGeom prst="rect">
                <a:avLst/>
              </a:prstGeom>
              <a:solidFill>
                <a:srgbClr val="A292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7526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默认设计模板">
    <a:majorFont>
      <a:latin typeface="Arial"/>
      <a:ea typeface="宋体"/>
      <a:cs typeface=""/>
    </a:majorFont>
    <a:minorFont>
      <a:latin typeface="Arial"/>
      <a:ea typeface="宋体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C01639-CAA9-43D5-9EE2-71B884E6FAB8}">
  <we:reference id="wa104038830" version="1.0.0.2" store="en-US" storeType="OMEX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1953</TotalTime>
  <Words>597</Words>
  <Application>Microsoft Macintosh PowerPoint</Application>
  <PresentationFormat>宽屏</PresentationFormat>
  <Paragraphs>88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-apple-system-font</vt:lpstr>
      <vt:lpstr>黑体</vt:lpstr>
      <vt:lpstr>华文细黑</vt:lpstr>
      <vt:lpstr>宋体</vt:lpstr>
      <vt:lpstr>微软雅黑</vt:lpstr>
      <vt:lpstr>Arial</vt:lpstr>
      <vt:lpstr>Broadway</vt:lpstr>
      <vt:lpstr>Calibri</vt:lpstr>
      <vt:lpstr>Calibri Light</vt:lpstr>
      <vt:lpstr>Garamond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江杰</dc:creator>
  <cp:lastModifiedBy>张恒</cp:lastModifiedBy>
  <cp:revision>93</cp:revision>
  <dcterms:created xsi:type="dcterms:W3CDTF">2015-07-09T13:49:26Z</dcterms:created>
  <dcterms:modified xsi:type="dcterms:W3CDTF">2024-11-15T14:12:29Z</dcterms:modified>
</cp:coreProperties>
</file>